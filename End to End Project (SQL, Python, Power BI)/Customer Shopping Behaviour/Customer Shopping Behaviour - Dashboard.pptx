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Inter Medium"/>
      <p:regular r:id="rId201314"/>
    </p:embeddedFont>
    <p:embeddedFont>
      <p:font typeface="Inter Bold"/>
      <p:regular r:id="rId201315"/>
    </p:embeddedFont>
    <p:embeddedFont>
      <p:font typeface="JetBrains Mono Medium"/>
      <p:regular r:id="rId201316"/>
    </p:embeddedFont>
    <p:embeddedFont>
      <p:font typeface="JetBrains Mono Bold"/>
      <p:regular r:id="rId201317"/>
    </p:embeddedFont>
    <p:embeddedFont>
      <p:font typeface="Source Sans 3 SemiBold"/>
      <p:regular r:id="rId201318"/>
    </p:embeddedFont>
    <p:embeddedFont>
      <p:font typeface="Source Sans 3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EEEA"/>
          </a:solidFill>
          <a:ln/>
        </p:spPr>
      </p:sp>
      <p:sp>
        <p:nvSpPr>
          <p:cNvPr id="3" name="Shape 1"/>
          <p:cNvSpPr/>
          <p:nvPr/>
        </p:nvSpPr>
        <p:spPr>
          <a:xfrm>
            <a:off x="0" y="0"/>
            <a:ext cx="12191695" cy="6858000"/>
          </a:xfrm>
          <a:prstGeom prst="rect">
            <a:avLst/>
          </a:prstGeom>
          <a:solidFill>
            <a:srgbClr val="FAFAF8"/>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82588" y="1168202"/>
            <a:ext cx="5537061" cy="419100"/>
          </a:xfrm>
          <a:prstGeom prst="rect">
            <a:avLst/>
          </a:prstGeom>
          <a:noFill/>
          <a:ln/>
        </p:spPr>
        <p:txBody>
          <a:bodyPr wrap="square" lIns="0" tIns="0" rIns="0" bIns="0" rtlCol="0" anchor="t">
            <a:normAutofit/>
          </a:bodyPr>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EXECUTIVE READOUT · CUSTOMER SHOPPING BEHAVIOR · DASHBOARD SUMMARY</a:t>
            </a:r>
            <a:endParaRPr lang="en-US" sz="1100" dirty="0"/>
          </a:p>
        </p:txBody>
      </p:sp>
      <p:sp>
        <p:nvSpPr>
          <p:cNvPr id="3" name="Shape 1"/>
          <p:cNvSpPr/>
          <p:nvPr/>
        </p:nvSpPr>
        <p:spPr>
          <a:xfrm>
            <a:off x="482588" y="1798439"/>
            <a:ext cx="1827068" cy="19050"/>
          </a:xfrm>
          <a:prstGeom prst="roundRect">
            <a:avLst>
              <a:gd name="adj" fmla="val 49999"/>
            </a:avLst>
          </a:prstGeom>
          <a:solidFill>
            <a:srgbClr val="E5644F"/>
          </a:solidFill>
          <a:ln/>
        </p:spPr>
      </p:sp>
      <p:sp>
        <p:nvSpPr>
          <p:cNvPr id="4" name="Text 2"/>
          <p:cNvSpPr/>
          <p:nvPr/>
        </p:nvSpPr>
        <p:spPr>
          <a:xfrm>
            <a:off x="482588" y="2177852"/>
            <a:ext cx="5537061" cy="1645741"/>
          </a:xfrm>
          <a:prstGeom prst="rect">
            <a:avLst/>
          </a:prstGeom>
          <a:noFill/>
          <a:ln/>
        </p:spPr>
        <p:txBody>
          <a:bodyPr wrap="square" lIns="0" tIns="0" rIns="0" bIns="0" rtlCol="0" anchor="t">
            <a:normAutofit/>
          </a:bodyPr>
          <a:lstStyle/>
          <a:p>
            <a:pPr algn="l" indent="0" marL="0">
              <a:lnSpc>
                <a:spcPct val="90000"/>
              </a:lnSpc>
              <a:buNone/>
            </a:pPr>
            <a:r>
              <a:rPr lang="en-US" sz="4000" b="1" spc="-80" kern="0" dirty="0">
                <a:solidFill>
                  <a:srgbClr val="1E293B"/>
                </a:solidFill>
                <a:latin typeface="Source Sans 3 Bold" pitchFamily="34" charset="0"/>
                <a:ea typeface="Source Sans 3 Bold" pitchFamily="34" charset="-122"/>
                <a:cs typeface="Source Sans 3 Bold" pitchFamily="34" charset="-120"/>
              </a:rPr>
              <a:t>Customer shopping generates $233K</a:t>
            </a:r>
            <a:endParaRPr lang="en-US" sz="4000" dirty="0"/>
          </a:p>
          <a:p>
            <a:pPr algn="l" indent="0" marL="0">
              <a:lnSpc>
                <a:spcPct val="90000"/>
              </a:lnSpc>
              <a:buNone/>
            </a:pPr>
            <a:r>
              <a:rPr lang="en-US" sz="4000" b="1" spc="-80" kern="0" dirty="0">
                <a:solidFill>
                  <a:srgbClr val="1E293B"/>
                </a:solidFill>
                <a:latin typeface="Source Sans 3 Bold" pitchFamily="34" charset="0"/>
                <a:ea typeface="Source Sans 3 Bold" pitchFamily="34" charset="-122"/>
                <a:cs typeface="Source Sans 3 Bold" pitchFamily="34" charset="-120"/>
              </a:rPr>
              <a:t>across 3,900 customers</a:t>
            </a:r>
            <a:endParaRPr lang="en-US" sz="4000" dirty="0"/>
          </a:p>
        </p:txBody>
      </p:sp>
      <p:sp>
        <p:nvSpPr>
          <p:cNvPr id="5" name="Shape 3"/>
          <p:cNvSpPr/>
          <p:nvPr/>
        </p:nvSpPr>
        <p:spPr>
          <a:xfrm>
            <a:off x="482588" y="4053780"/>
            <a:ext cx="1827068" cy="19050"/>
          </a:xfrm>
          <a:prstGeom prst="roundRect">
            <a:avLst>
              <a:gd name="adj" fmla="val 49999"/>
            </a:avLst>
          </a:prstGeom>
          <a:solidFill>
            <a:srgbClr val="E5644F"/>
          </a:solidFill>
          <a:ln/>
        </p:spPr>
      </p:sp>
      <p:sp>
        <p:nvSpPr>
          <p:cNvPr id="6" name="Text 4"/>
          <p:cNvSpPr/>
          <p:nvPr/>
        </p:nvSpPr>
        <p:spPr>
          <a:xfrm>
            <a:off x="482588" y="4283968"/>
            <a:ext cx="6019649"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7" name="Text 5"/>
          <p:cNvSpPr/>
          <p:nvPr/>
        </p:nvSpPr>
        <p:spPr>
          <a:xfrm>
            <a:off x="482588" y="4658618"/>
            <a:ext cx="5537061" cy="103108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This executive readout summarizes customer shopping behavior from the dashboard. We have a useful baseline: roughly $233,000 in sales across 3,900 customers. The opportunity is to turn these patterns into testable decisions.</a:t>
            </a:r>
            <a:endParaRPr lang="en-US" sz="1450" dirty="0"/>
          </a:p>
        </p:txBody>
      </p:sp>
      <p:pic>
        <p:nvPicPr>
          <p:cNvPr id="8" name="Image 0" descr="preencoded.png">    </p:cNvPr>
          <p:cNvPicPr>
            <a:picLocks noChangeAspect="1"/>
          </p:cNvPicPr>
          <p:nvPr/>
        </p:nvPicPr>
        <p:blipFill>
          <a:blip r:embed="rId1"/>
          <a:stretch>
            <a:fillRect/>
          </a:stretch>
        </p:blipFill>
        <p:spPr>
          <a:xfrm>
            <a:off x="6502237" y="0"/>
            <a:ext cx="568945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7987" y="4318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BASELINE · DASHBOARD SNAPSHOT</a:t>
            </a:r>
            <a:endParaRPr lang="en-US" sz="1100" dirty="0"/>
          </a:p>
        </p:txBody>
      </p:sp>
      <p:sp>
        <p:nvSpPr>
          <p:cNvPr id="3" name="Text 1"/>
          <p:cNvSpPr/>
          <p:nvPr/>
        </p:nvSpPr>
        <p:spPr>
          <a:xfrm>
            <a:off x="507987" y="714375"/>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$233,081 in revenue; the average sale is $59.76</a:t>
            </a:r>
            <a:endParaRPr lang="en-US" sz="3200" dirty="0"/>
          </a:p>
        </p:txBody>
      </p:sp>
      <p:sp>
        <p:nvSpPr>
          <p:cNvPr id="4" name="Shape 2"/>
          <p:cNvSpPr/>
          <p:nvPr/>
        </p:nvSpPr>
        <p:spPr>
          <a:xfrm>
            <a:off x="507987" y="1337370"/>
            <a:ext cx="5435464" cy="2196306"/>
          </a:xfrm>
          <a:prstGeom prst="roundRect">
            <a:avLst>
              <a:gd name="adj" fmla="val 6245"/>
            </a:avLst>
          </a:prstGeom>
          <a:solidFill>
            <a:srgbClr val="FFFFFF"/>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5" name="Text 3"/>
          <p:cNvSpPr/>
          <p:nvPr/>
        </p:nvSpPr>
        <p:spPr>
          <a:xfrm>
            <a:off x="692133" y="1496120"/>
            <a:ext cx="5251319"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TOTAL REVENUE</a:t>
            </a:r>
            <a:endParaRPr lang="en-US" sz="1100" dirty="0"/>
          </a:p>
        </p:txBody>
      </p:sp>
      <p:sp>
        <p:nvSpPr>
          <p:cNvPr id="6" name="Text 4"/>
          <p:cNvSpPr/>
          <p:nvPr/>
        </p:nvSpPr>
        <p:spPr>
          <a:xfrm>
            <a:off x="692133" y="1778695"/>
            <a:ext cx="5067173" cy="584200"/>
          </a:xfrm>
          <a:prstGeom prst="rect">
            <a:avLst/>
          </a:prstGeom>
          <a:noFill/>
          <a:ln/>
        </p:spPr>
        <p:txBody>
          <a:bodyPr wrap="none" lIns="0" tIns="0" rIns="0" bIns="0" rtlCol="0" anchor="t"/>
          <a:lstStyle/>
          <a:p>
            <a:pPr algn="l" indent="0" marL="0">
              <a:lnSpc>
                <a:spcPct val="83000"/>
              </a:lnSpc>
              <a:buNone/>
            </a:pPr>
            <a:r>
              <a:rPr lang="en-US" sz="4600" b="1" spc="-230" kern="0" dirty="0">
                <a:solidFill>
                  <a:srgbClr val="0A736A"/>
                </a:solidFill>
                <a:latin typeface="JetBrains Mono Bold" pitchFamily="34" charset="0"/>
                <a:ea typeface="JetBrains Mono Bold" pitchFamily="34" charset="-122"/>
                <a:cs typeface="JetBrains Mono Bold" pitchFamily="34" charset="-120"/>
              </a:rPr>
              <a:t>$233,081</a:t>
            </a:r>
            <a:endParaRPr lang="en-US" sz="4600" dirty="0"/>
          </a:p>
        </p:txBody>
      </p:sp>
      <p:sp>
        <p:nvSpPr>
          <p:cNvPr id="7" name="Text 5"/>
          <p:cNvSpPr/>
          <p:nvPr/>
        </p:nvSpPr>
        <p:spPr>
          <a:xfrm>
            <a:off x="692133" y="2547045"/>
            <a:ext cx="5251319" cy="257770"/>
          </a:xfrm>
          <a:prstGeom prst="rect">
            <a:avLst/>
          </a:prstGeom>
          <a:noFill/>
          <a:ln/>
        </p:spPr>
        <p:txBody>
          <a:bodyPr wrap="none" lIns="0" tIns="0" rIns="0" bIns="0" rtlCol="0" anchor="t"/>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Across 3,900 customers</a:t>
            </a:r>
            <a:endParaRPr lang="en-US" sz="1450" dirty="0"/>
          </a:p>
        </p:txBody>
      </p:sp>
      <p:sp>
        <p:nvSpPr>
          <p:cNvPr id="8" name="Shape 6"/>
          <p:cNvSpPr/>
          <p:nvPr/>
        </p:nvSpPr>
        <p:spPr>
          <a:xfrm>
            <a:off x="6248244" y="1337370"/>
            <a:ext cx="5435464" cy="2196306"/>
          </a:xfrm>
          <a:prstGeom prst="roundRect">
            <a:avLst>
              <a:gd name="adj" fmla="val 6245"/>
            </a:avLst>
          </a:prstGeom>
          <a:solidFill>
            <a:srgbClr val="FFFFFF"/>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9" name="Shape 7"/>
          <p:cNvSpPr/>
          <p:nvPr/>
        </p:nvSpPr>
        <p:spPr>
          <a:xfrm>
            <a:off x="6432389" y="1496120"/>
            <a:ext cx="2381190" cy="787003"/>
          </a:xfrm>
          <a:prstGeom prst="roundRect">
            <a:avLst>
              <a:gd name="adj" fmla="val 17428"/>
            </a:avLst>
          </a:prstGeom>
          <a:solidFill>
            <a:srgbClr val="FFFFFF"/>
          </a:solidFill>
          <a:ln/>
          <a:effectLst>
            <a:outerShdw sx="100000" sy="100000" kx="0" ky="0" algn="bl" rotWithShape="0" blurRad="27940" dist="8890" dir="5400000">
              <a:srgbClr val="1e293b">
                <a:alpha val="1000"/>
              </a:srgbClr>
            </a:outerShdw>
          </a:effectLst>
        </p:spPr>
      </p:sp>
      <p:sp>
        <p:nvSpPr>
          <p:cNvPr id="10" name="Text 8"/>
          <p:cNvSpPr/>
          <p:nvPr/>
        </p:nvSpPr>
        <p:spPr>
          <a:xfrm>
            <a:off x="6432389" y="1496120"/>
            <a:ext cx="2381190"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AVERAGE SALE</a:t>
            </a:r>
            <a:endParaRPr lang="en-US" sz="1100" dirty="0"/>
          </a:p>
        </p:txBody>
      </p:sp>
      <p:sp>
        <p:nvSpPr>
          <p:cNvPr id="11" name="Text 9"/>
          <p:cNvSpPr/>
          <p:nvPr/>
        </p:nvSpPr>
        <p:spPr>
          <a:xfrm>
            <a:off x="6432389" y="1778695"/>
            <a:ext cx="2381190"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$59.76</a:t>
            </a:r>
            <a:endParaRPr lang="en-US" sz="2150" dirty="0"/>
          </a:p>
        </p:txBody>
      </p:sp>
      <p:sp>
        <p:nvSpPr>
          <p:cNvPr id="12" name="Shape 10"/>
          <p:cNvSpPr/>
          <p:nvPr/>
        </p:nvSpPr>
        <p:spPr>
          <a:xfrm>
            <a:off x="9118372" y="1496120"/>
            <a:ext cx="2381190" cy="787003"/>
          </a:xfrm>
          <a:prstGeom prst="roundRect">
            <a:avLst>
              <a:gd name="adj" fmla="val 17428"/>
            </a:avLst>
          </a:prstGeom>
          <a:solidFill>
            <a:srgbClr val="FFFFFF"/>
          </a:solidFill>
          <a:ln/>
          <a:effectLst>
            <a:outerShdw sx="100000" sy="100000" kx="0" ky="0" algn="bl" rotWithShape="0" blurRad="27940" dist="8890" dir="5400000">
              <a:srgbClr val="1e293b">
                <a:alpha val="1000"/>
              </a:srgbClr>
            </a:outerShdw>
          </a:effectLst>
        </p:spPr>
      </p:sp>
      <p:sp>
        <p:nvSpPr>
          <p:cNvPr id="13" name="Text 11"/>
          <p:cNvSpPr/>
          <p:nvPr/>
        </p:nvSpPr>
        <p:spPr>
          <a:xfrm>
            <a:off x="9118372" y="1496120"/>
            <a:ext cx="2381190"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AVERAGE RATING</a:t>
            </a:r>
            <a:endParaRPr lang="en-US" sz="1100" dirty="0"/>
          </a:p>
        </p:txBody>
      </p:sp>
      <p:sp>
        <p:nvSpPr>
          <p:cNvPr id="14" name="Text 12"/>
          <p:cNvSpPr/>
          <p:nvPr/>
        </p:nvSpPr>
        <p:spPr>
          <a:xfrm>
            <a:off x="9118372" y="1778695"/>
            <a:ext cx="2381190"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3.75</a:t>
            </a:r>
            <a:endParaRPr lang="en-US" sz="2150" dirty="0"/>
          </a:p>
        </p:txBody>
      </p:sp>
      <p:sp>
        <p:nvSpPr>
          <p:cNvPr id="15" name="Shape 13"/>
          <p:cNvSpPr/>
          <p:nvPr/>
        </p:nvSpPr>
        <p:spPr>
          <a:xfrm>
            <a:off x="6432389" y="2587923"/>
            <a:ext cx="2381190" cy="787003"/>
          </a:xfrm>
          <a:prstGeom prst="roundRect">
            <a:avLst>
              <a:gd name="adj" fmla="val 17428"/>
            </a:avLst>
          </a:prstGeom>
          <a:solidFill>
            <a:srgbClr val="FFFFFF"/>
          </a:solidFill>
          <a:ln/>
          <a:effectLst>
            <a:outerShdw sx="100000" sy="100000" kx="0" ky="0" algn="bl" rotWithShape="0" blurRad="27940" dist="8890" dir="5400000">
              <a:srgbClr val="1e293b">
                <a:alpha val="1000"/>
              </a:srgbClr>
            </a:outerShdw>
          </a:effectLst>
        </p:spPr>
      </p:sp>
      <p:sp>
        <p:nvSpPr>
          <p:cNvPr id="16" name="Text 14"/>
          <p:cNvSpPr/>
          <p:nvPr/>
        </p:nvSpPr>
        <p:spPr>
          <a:xfrm>
            <a:off x="6432389" y="2587923"/>
            <a:ext cx="2381190"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CUSTOMERS</a:t>
            </a:r>
            <a:endParaRPr lang="en-US" sz="1100" dirty="0"/>
          </a:p>
        </p:txBody>
      </p:sp>
      <p:sp>
        <p:nvSpPr>
          <p:cNvPr id="17" name="Text 15"/>
          <p:cNvSpPr/>
          <p:nvPr/>
        </p:nvSpPr>
        <p:spPr>
          <a:xfrm>
            <a:off x="6432389" y="2870498"/>
            <a:ext cx="2381190"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3,900</a:t>
            </a:r>
            <a:endParaRPr lang="en-US" sz="2150" dirty="0"/>
          </a:p>
        </p:txBody>
      </p:sp>
      <p:sp>
        <p:nvSpPr>
          <p:cNvPr id="18" name="Shape 16"/>
          <p:cNvSpPr/>
          <p:nvPr/>
        </p:nvSpPr>
        <p:spPr>
          <a:xfrm>
            <a:off x="9118372" y="2587923"/>
            <a:ext cx="2381190" cy="787003"/>
          </a:xfrm>
          <a:prstGeom prst="roundRect">
            <a:avLst>
              <a:gd name="adj" fmla="val 17428"/>
            </a:avLst>
          </a:prstGeom>
          <a:solidFill>
            <a:srgbClr val="FFFFFF"/>
          </a:solidFill>
          <a:ln/>
          <a:effectLst>
            <a:outerShdw sx="100000" sy="100000" kx="0" ky="0" algn="bl" rotWithShape="0" blurRad="27940" dist="8890" dir="5400000">
              <a:srgbClr val="1e293b">
                <a:alpha val="1000"/>
              </a:srgbClr>
            </a:outerShdw>
          </a:effectLst>
        </p:spPr>
      </p:sp>
      <p:sp>
        <p:nvSpPr>
          <p:cNvPr id="19" name="Text 17"/>
          <p:cNvSpPr/>
          <p:nvPr/>
        </p:nvSpPr>
        <p:spPr>
          <a:xfrm>
            <a:off x="9118372" y="2587923"/>
            <a:ext cx="2381190" cy="419100"/>
          </a:xfrm>
          <a:prstGeom prst="rect">
            <a:avLst/>
          </a:prstGeom>
          <a:noFill/>
          <a:ln/>
        </p:spPr>
        <p:txBody>
          <a:bodyPr wrap="square" lIns="0" tIns="0" rIns="0" bIns="0" rtlCol="0" anchor="t">
            <a:normAutofit/>
          </a:bodyPr>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AVERAGE PREVIOUS-PURCHASE MEASURE</a:t>
            </a:r>
            <a:endParaRPr lang="en-US" sz="1100" dirty="0"/>
          </a:p>
        </p:txBody>
      </p:sp>
      <p:sp>
        <p:nvSpPr>
          <p:cNvPr id="20" name="Text 18"/>
          <p:cNvSpPr/>
          <p:nvPr/>
        </p:nvSpPr>
        <p:spPr>
          <a:xfrm>
            <a:off x="9118372" y="3080048"/>
            <a:ext cx="2381190"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25.35</a:t>
            </a:r>
            <a:endParaRPr lang="en-US" sz="2150" dirty="0"/>
          </a:p>
        </p:txBody>
      </p:sp>
      <p:sp>
        <p:nvSpPr>
          <p:cNvPr id="21" name="Text 19"/>
          <p:cNvSpPr/>
          <p:nvPr/>
        </p:nvSpPr>
        <p:spPr>
          <a:xfrm>
            <a:off x="507987" y="3698776"/>
            <a:ext cx="11683708" cy="257770"/>
          </a:xfrm>
          <a:prstGeom prst="rect">
            <a:avLst/>
          </a:prstGeom>
          <a:noFill/>
          <a:ln/>
        </p:spPr>
        <p:txBody>
          <a:bodyPr wrap="none" lIns="0" tIns="0" rIns="0" bIns="0" rtlCol="0" anchor="t"/>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A useful business baseline—not proof of what caused buying behavior.</a:t>
            </a:r>
            <a:endParaRPr lang="en-US" sz="1450" dirty="0"/>
          </a:p>
        </p:txBody>
      </p:sp>
      <p:sp>
        <p:nvSpPr>
          <p:cNvPr id="22" name="Shape 20"/>
          <p:cNvSpPr/>
          <p:nvPr/>
        </p:nvSpPr>
        <p:spPr>
          <a:xfrm>
            <a:off x="507987" y="4121646"/>
            <a:ext cx="11175720" cy="1137841"/>
          </a:xfrm>
          <a:prstGeom prst="rect">
            <a:avLst/>
          </a:prstGeom>
          <a:solidFill>
            <a:srgbClr val="FFFFFF"/>
          </a:solidFill>
          <a:ln/>
        </p:spPr>
      </p:sp>
      <p:sp>
        <p:nvSpPr>
          <p:cNvPr id="23" name="Text 21"/>
          <p:cNvSpPr/>
          <p:nvPr/>
        </p:nvSpPr>
        <p:spPr>
          <a:xfrm>
            <a:off x="736582" y="4274046"/>
            <a:ext cx="1094712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24" name="Text 22"/>
          <p:cNvSpPr/>
          <p:nvPr/>
        </p:nvSpPr>
        <p:spPr>
          <a:xfrm>
            <a:off x="736582" y="4591546"/>
            <a:ext cx="10718532"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We have a useful baseline: roughly $233,000 in sales across 3,900 customers. The average sale is just under $60 and the overall rating is 3.75. The opportunity now is to turn these patterns into testable decisions.</a:t>
            </a:r>
            <a:endParaRPr lang="en-US" sz="1450" dirty="0"/>
          </a:p>
        </p:txBody>
      </p:sp>
      <p:sp>
        <p:nvSpPr>
          <p:cNvPr id="25" name="Text 23"/>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26" name="Text 24"/>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7987" y="4318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REVENUE MIX · CUSTOMER SEGMENTS</a:t>
            </a:r>
            <a:endParaRPr lang="en-US" sz="1100" dirty="0"/>
          </a:p>
        </p:txBody>
      </p:sp>
      <p:sp>
        <p:nvSpPr>
          <p:cNvPr id="3" name="Text 1"/>
          <p:cNvSpPr/>
          <p:nvPr/>
        </p:nvSpPr>
        <p:spPr>
          <a:xfrm>
            <a:off x="507987" y="714375"/>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Adults and younger shoppers contribute nearly equal sales</a:t>
            </a:r>
            <a:endParaRPr lang="en-US" sz="3200" dirty="0"/>
          </a:p>
        </p:txBody>
      </p:sp>
      <p:pic>
        <p:nvPicPr>
          <p:cNvPr id="4" name="Image 0" descr="preencoded.png">    </p:cNvPr>
          <p:cNvPicPr>
            <a:picLocks noChangeAspect="1"/>
          </p:cNvPicPr>
          <p:nvPr/>
        </p:nvPicPr>
        <p:blipFill>
          <a:blip r:embed="rId1"/>
          <a:stretch>
            <a:fillRect/>
          </a:stretch>
        </p:blipFill>
        <p:spPr>
          <a:xfrm>
            <a:off x="507987" y="1337370"/>
            <a:ext cx="6431198" cy="2349897"/>
          </a:xfrm>
          <a:prstGeom prst="rect">
            <a:avLst/>
          </a:prstGeom>
        </p:spPr>
      </p:pic>
      <p:sp>
        <p:nvSpPr>
          <p:cNvPr id="5" name="Text 2"/>
          <p:cNvSpPr/>
          <p:nvPr/>
        </p:nvSpPr>
        <p:spPr>
          <a:xfrm>
            <a:off x="7396275" y="1337370"/>
            <a:ext cx="4287433"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MALE CUSTOMERS</a:t>
            </a:r>
            <a:endParaRPr lang="en-US" sz="1100" dirty="0"/>
          </a:p>
        </p:txBody>
      </p:sp>
      <p:sp>
        <p:nvSpPr>
          <p:cNvPr id="6" name="Text 3"/>
          <p:cNvSpPr/>
          <p:nvPr/>
        </p:nvSpPr>
        <p:spPr>
          <a:xfrm>
            <a:off x="7396275" y="1619945"/>
            <a:ext cx="4287433" cy="294878"/>
          </a:xfrm>
          <a:prstGeom prst="rect">
            <a:avLst/>
          </a:prstGeom>
          <a:noFill/>
          <a:ln/>
        </p:spPr>
        <p:txBody>
          <a:bodyPr wrap="none" lIns="0" tIns="0" rIns="0" bIns="0" rtlCol="0" anchor="t"/>
          <a:lstStyle/>
          <a:p>
            <a:pPr algn="l" indent="0" marL="0">
              <a:lnSpc>
                <a:spcPct val="90000"/>
              </a:lnSpc>
              <a:buNone/>
            </a:pPr>
            <a:r>
              <a:rPr lang="en-US" sz="2150" b="1" spc="-43" kern="0" dirty="0">
                <a:solidFill>
                  <a:srgbClr val="E5644F"/>
                </a:solidFill>
                <a:latin typeface="JetBrains Mono Bold" pitchFamily="34" charset="0"/>
                <a:ea typeface="JetBrains Mono Bold" pitchFamily="34" charset="-122"/>
                <a:cs typeface="JetBrains Mono Bold" pitchFamily="34" charset="-120"/>
              </a:rPr>
              <a:t>$158K </a:t>
            </a:r>
            <a:pPr algn="l" indent="0" marL="0">
              <a:lnSpc>
                <a:spcPct val="90000"/>
              </a:lnSpc>
              <a:buNone/>
            </a:pPr>
            <a:r>
              <a:rPr lang="en-US" sz="2150" b="1" spc="-43" kern="0" dirty="0">
                <a:solidFill>
                  <a:srgbClr val="64748B"/>
                </a:solidFill>
                <a:latin typeface="JetBrains Mono Bold" pitchFamily="34" charset="0"/>
                <a:ea typeface="JetBrains Mono Bold" pitchFamily="34" charset="-122"/>
                <a:cs typeface="JetBrains Mono Bold" pitchFamily="34" charset="-120"/>
              </a:rPr>
              <a:t>· 67.74%</a:t>
            </a:r>
            <a:endParaRPr lang="en-US" sz="2150" dirty="0"/>
          </a:p>
        </p:txBody>
      </p:sp>
      <p:sp>
        <p:nvSpPr>
          <p:cNvPr id="7" name="Text 4"/>
          <p:cNvSpPr/>
          <p:nvPr/>
        </p:nvSpPr>
        <p:spPr>
          <a:xfrm>
            <a:off x="7396275" y="2740918"/>
            <a:ext cx="4287433"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FEMALE CUSTOMERS</a:t>
            </a:r>
            <a:endParaRPr lang="en-US" sz="1100" dirty="0"/>
          </a:p>
        </p:txBody>
      </p:sp>
      <p:sp>
        <p:nvSpPr>
          <p:cNvPr id="8" name="Text 5"/>
          <p:cNvSpPr/>
          <p:nvPr/>
        </p:nvSpPr>
        <p:spPr>
          <a:xfrm>
            <a:off x="7396275" y="3023493"/>
            <a:ext cx="4287433" cy="294878"/>
          </a:xfrm>
          <a:prstGeom prst="rect">
            <a:avLst/>
          </a:prstGeom>
          <a:noFill/>
          <a:ln/>
        </p:spPr>
        <p:txBody>
          <a:bodyPr wrap="none" lIns="0" tIns="0" rIns="0" bIns="0" rtlCol="0" anchor="t"/>
          <a:lstStyle/>
          <a:p>
            <a:pPr algn="l" indent="0" marL="0">
              <a:lnSpc>
                <a:spcPct val="90000"/>
              </a:lnSpc>
              <a:buNone/>
            </a:pPr>
            <a:r>
              <a:rPr lang="en-US" sz="2150" b="1" spc="-43" kern="0" dirty="0">
                <a:solidFill>
                  <a:srgbClr val="0A736A"/>
                </a:solidFill>
                <a:latin typeface="JetBrains Mono Bold" pitchFamily="34" charset="0"/>
                <a:ea typeface="JetBrains Mono Bold" pitchFamily="34" charset="-122"/>
                <a:cs typeface="JetBrains Mono Bold" pitchFamily="34" charset="-120"/>
              </a:rPr>
              <a:t>$75K </a:t>
            </a:r>
            <a:pPr algn="l" indent="0" marL="0">
              <a:lnSpc>
                <a:spcPct val="90000"/>
              </a:lnSpc>
              <a:buNone/>
            </a:pPr>
            <a:r>
              <a:rPr lang="en-US" sz="2150" b="1" spc="-43" kern="0" dirty="0">
                <a:solidFill>
                  <a:srgbClr val="64748B"/>
                </a:solidFill>
                <a:latin typeface="JetBrains Mono Bold" pitchFamily="34" charset="0"/>
                <a:ea typeface="JetBrains Mono Bold" pitchFamily="34" charset="-122"/>
                <a:cs typeface="JetBrains Mono Bold" pitchFamily="34" charset="-120"/>
              </a:rPr>
              <a:t>· 32.26%</a:t>
            </a:r>
            <a:endParaRPr lang="en-US" sz="2150" dirty="0"/>
          </a:p>
        </p:txBody>
      </p:sp>
      <p:sp>
        <p:nvSpPr>
          <p:cNvPr id="9" name="Text 6"/>
          <p:cNvSpPr/>
          <p:nvPr/>
        </p:nvSpPr>
        <p:spPr>
          <a:xfrm>
            <a:off x="507987" y="3852366"/>
            <a:ext cx="11683708" cy="222250"/>
          </a:xfrm>
          <a:prstGeom prst="rect">
            <a:avLst/>
          </a:prstGeom>
          <a:noFill/>
          <a:ln/>
        </p:spPr>
        <p:txBody>
          <a:bodyPr wrap="none" lIns="0" tIns="0" rIns="0" bIns="0" rtlCol="0" anchor="t"/>
          <a:lstStyle/>
          <a:p>
            <a:pPr algn="l" indent="0" marL="0">
              <a:lnSpc>
                <a:spcPct val="117000"/>
              </a:lnSpc>
              <a:buNone/>
            </a:pPr>
            <a:r>
              <a:rPr lang="en-US" sz="1250" dirty="0">
                <a:solidFill>
                  <a:srgbClr val="334155"/>
                </a:solidFill>
                <a:latin typeface="Inter Medium" pitchFamily="34" charset="0"/>
                <a:ea typeface="Inter Medium" pitchFamily="34" charset="-122"/>
                <a:cs typeface="Inter Medium" pitchFamily="34" charset="-120"/>
              </a:rPr>
              <a:t>Revenue totals show mix, not normalized segment value per person.</a:t>
            </a:r>
            <a:endParaRPr lang="en-US" sz="1250" dirty="0"/>
          </a:p>
        </p:txBody>
      </p:sp>
      <p:sp>
        <p:nvSpPr>
          <p:cNvPr id="10" name="Shape 7"/>
          <p:cNvSpPr/>
          <p:nvPr/>
        </p:nvSpPr>
        <p:spPr>
          <a:xfrm>
            <a:off x="507987" y="4239716"/>
            <a:ext cx="11175720" cy="1066800"/>
          </a:xfrm>
          <a:prstGeom prst="rect">
            <a:avLst/>
          </a:prstGeom>
          <a:solidFill>
            <a:srgbClr val="FFFFFF"/>
          </a:solidFill>
          <a:ln/>
        </p:spPr>
      </p:sp>
      <p:sp>
        <p:nvSpPr>
          <p:cNvPr id="11" name="Text 8"/>
          <p:cNvSpPr/>
          <p:nvPr/>
        </p:nvSpPr>
        <p:spPr>
          <a:xfrm>
            <a:off x="736582" y="4392116"/>
            <a:ext cx="1094712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12" name="Text 9"/>
          <p:cNvSpPr/>
          <p:nvPr/>
        </p:nvSpPr>
        <p:spPr>
          <a:xfrm>
            <a:off x="736582" y="4709616"/>
            <a:ext cx="10718532" cy="444500"/>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34155"/>
                </a:solidFill>
                <a:latin typeface="Inter Medium" pitchFamily="34" charset="0"/>
                <a:ea typeface="Inter Medium" pitchFamily="34" charset="-122"/>
                <a:cs typeface="Inter Medium" pitchFamily="34" charset="-120"/>
              </a:rPr>
              <a:t>Adults and younger shoppers are almost even in total sales, while senior and teen sales are smaller. Male customers account for a larger share of revenue in this dataset. These totals help us see mix; they don’t tell us which group is most valuable per customer.</a:t>
            </a:r>
            <a:endParaRPr lang="en-US" sz="1250" dirty="0"/>
          </a:p>
        </p:txBody>
      </p:sp>
      <p:sp>
        <p:nvSpPr>
          <p:cNvPr id="13" name="Shape 10"/>
          <p:cNvSpPr/>
          <p:nvPr/>
        </p:nvSpPr>
        <p:spPr>
          <a:xfrm>
            <a:off x="7396275" y="2505968"/>
            <a:ext cx="4287433" cy="12700"/>
          </a:xfrm>
          <a:prstGeom prst="rect">
            <a:avLst/>
          </a:prstGeom>
          <a:solidFill>
            <a:srgbClr val="E2E8F0"/>
          </a:solidFill>
          <a:ln/>
        </p:spPr>
      </p:sp>
      <p:sp>
        <p:nvSpPr>
          <p:cNvPr id="14" name="Text 11"/>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15" name="Text 12"/>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7987" y="4064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REVENUE MIX · PRODUCT</a:t>
            </a:r>
            <a:endParaRPr lang="en-US" sz="1100" dirty="0"/>
          </a:p>
        </p:txBody>
      </p:sp>
      <p:sp>
        <p:nvSpPr>
          <p:cNvPr id="3" name="Text 1"/>
          <p:cNvSpPr/>
          <p:nvPr/>
        </p:nvSpPr>
        <p:spPr>
          <a:xfrm>
            <a:off x="507987" y="688975"/>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Clothing leads category sales, with accessories second</a:t>
            </a:r>
            <a:endParaRPr lang="en-US" sz="3200" dirty="0"/>
          </a:p>
        </p:txBody>
      </p:sp>
      <p:sp>
        <p:nvSpPr>
          <p:cNvPr id="4" name="Text 2"/>
          <p:cNvSpPr/>
          <p:nvPr/>
        </p:nvSpPr>
        <p:spPr>
          <a:xfrm>
            <a:off x="507987" y="1311970"/>
            <a:ext cx="6431198"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Sales by category</a:t>
            </a:r>
            <a:endParaRPr lang="en-US" sz="2150" dirty="0"/>
          </a:p>
        </p:txBody>
      </p:sp>
      <p:pic>
        <p:nvPicPr>
          <p:cNvPr id="5" name="Image 0" descr="preencoded.png">    </p:cNvPr>
          <p:cNvPicPr>
            <a:picLocks noChangeAspect="1"/>
          </p:cNvPicPr>
          <p:nvPr/>
        </p:nvPicPr>
        <p:blipFill>
          <a:blip r:embed="rId1"/>
          <a:stretch>
            <a:fillRect/>
          </a:stretch>
        </p:blipFill>
        <p:spPr>
          <a:xfrm>
            <a:off x="507987" y="1714798"/>
            <a:ext cx="6431198" cy="2164358"/>
          </a:xfrm>
          <a:prstGeom prst="rect">
            <a:avLst/>
          </a:prstGeom>
        </p:spPr>
      </p:pic>
      <p:sp>
        <p:nvSpPr>
          <p:cNvPr id="6" name="Text 3"/>
          <p:cNvSpPr/>
          <p:nvPr/>
        </p:nvSpPr>
        <p:spPr>
          <a:xfrm>
            <a:off x="507987" y="3952180"/>
            <a:ext cx="6431198" cy="200025"/>
          </a:xfrm>
          <a:prstGeom prst="rect">
            <a:avLst/>
          </a:prstGeom>
          <a:noFill/>
          <a:ln/>
        </p:spPr>
        <p:txBody>
          <a:bodyPr wrap="none" lIns="0" tIns="0" rIns="0" bIns="0" rtlCol="0" anchor="t"/>
          <a:lstStyle/>
          <a:p>
            <a:pPr algn="l" indent="0" marL="0">
              <a:lnSpc>
                <a:spcPct val="125000"/>
              </a:lnSpc>
              <a:buNone/>
            </a:pPr>
            <a:r>
              <a:rPr lang="en-US" sz="1050" spc="115" kern="0" dirty="0">
                <a:solidFill>
                  <a:srgbClr val="64748B"/>
                </a:solidFill>
                <a:latin typeface="JetBrains Mono Medium" pitchFamily="34" charset="0"/>
                <a:ea typeface="JetBrains Mono Medium" pitchFamily="34" charset="-122"/>
                <a:cs typeface="JetBrains Mono Medium" pitchFamily="34" charset="-120"/>
              </a:rPr>
              <a:t>CATEGORY SALES · APPROXIMATE $K</a:t>
            </a:r>
            <a:endParaRPr lang="en-US" sz="1050" dirty="0"/>
          </a:p>
        </p:txBody>
      </p:sp>
      <p:sp>
        <p:nvSpPr>
          <p:cNvPr id="7" name="Text 4"/>
          <p:cNvSpPr/>
          <p:nvPr/>
        </p:nvSpPr>
        <p:spPr>
          <a:xfrm>
            <a:off x="7396275" y="1311970"/>
            <a:ext cx="4287433"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Top five products by sales</a:t>
            </a:r>
            <a:endParaRPr lang="en-US" sz="2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96275" y="1771948"/>
          <a:ext cx="9143771" cy="914400"/>
        </p:xfrm>
        <a:graphic>
          <a:graphicData uri="http://schemas.openxmlformats.org/drawingml/2006/table">
            <a:tbl>
              <a:tblPr/>
              <a:tblGrid>
                <a:gridCol w="2658208"/>
                <a:gridCol w="1629224"/>
              </a:tblGrid>
              <a:tr h="396171">
                <a:tc>
                  <a:txBody>
                    <a:bodyPr/>
                    <a:lstStyle/>
                    <a:p>
                      <a:pPr indent="0" marL="0">
                        <a:buNone/>
                      </a:pPr>
                      <a:r>
                        <a:rPr lang="en-US" sz="1050" b="1" spc="126" kern="0" dirty="0">
                          <a:solidFill>
                            <a:srgbClr val="64748B"/>
                          </a:solidFill>
                          <a:latin typeface="JetBrains Mono" pitchFamily="34" charset="0"/>
                          <a:ea typeface="JetBrains Mono" pitchFamily="34" charset="-122"/>
                          <a:cs typeface="JetBrains Mono" pitchFamily="34" charset="-120"/>
                        </a:rPr>
                        <a:t>PRODUCT</a:t>
                      </a:r>
                      <a:endParaRPr lang="en-US" sz="1050" dirty="0">
                        <a:latin typeface="JetBrains Mono" charset="0"/>
                        <a:ea typeface="JetBrains Mono" charset="0"/>
                        <a:cs typeface="JetBrains Mono" charset="0"/>
                      </a:endParaRPr>
                    </a:p>
                  </a:txBody>
                  <a:tcPr marL="152396" marR="152396" marT="101598" marB="101598" anchor="ctr">
                    <a:lnL w="12700" cap="flat" cmpd="sng" algn="ctr">
                      <a:solidFill>
                        <a:srgbClr val="F3F4F5"/>
                      </a:solidFill>
                      <a:prstDash val="solid"/>
                      <a:round/>
                      <a:headEnd type="none" w="med" len="med"/>
                      <a:tailEnd type="none" w="med" len="med"/>
                    </a:lnL>
                    <a:lnR w="12700" cap="flat" cmpd="sng" algn="ctr">
                      <a:solidFill>
                        <a:srgbClr val="F3F4F5"/>
                      </a:solidFill>
                      <a:prstDash val="solid"/>
                      <a:round/>
                      <a:headEnd type="none" w="med" len="med"/>
                      <a:tailEnd type="none" w="med" len="med"/>
                    </a:lnR>
                    <a:lnT w="12700" cap="flat" cmpd="sng" algn="ctr">
                      <a:solidFill>
                        <a:srgbClr val="F3F4F5"/>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3F4F5"/>
                    </a:solidFill>
                  </a:tcPr>
                </a:tc>
                <a:tc>
                  <a:txBody>
                    <a:bodyPr/>
                    <a:lstStyle/>
                    <a:p>
                      <a:pPr indent="0" marL="0">
                        <a:buNone/>
                      </a:pPr>
                      <a:r>
                        <a:rPr lang="en-US" sz="1050" b="1" spc="126" kern="0" dirty="0">
                          <a:solidFill>
                            <a:srgbClr val="64748B"/>
                          </a:solidFill>
                          <a:latin typeface="JetBrains Mono" pitchFamily="34" charset="0"/>
                          <a:ea typeface="JetBrains Mono" pitchFamily="34" charset="-122"/>
                          <a:cs typeface="JetBrains Mono" pitchFamily="34" charset="-120"/>
                        </a:rPr>
                        <a:t>SALES</a:t>
                      </a:r>
                      <a:endParaRPr lang="en-US" sz="1050" dirty="0">
                        <a:latin typeface="JetBrains Mono" charset="0"/>
                        <a:ea typeface="JetBrains Mono" charset="0"/>
                        <a:cs typeface="JetBrains Mono" charset="0"/>
                      </a:endParaRPr>
                    </a:p>
                  </a:txBody>
                  <a:tcPr marL="152396" marR="152396" marT="101598" marB="101598" anchor="ctr">
                    <a:lnL w="12700" cap="flat" cmpd="sng" algn="ctr">
                      <a:solidFill>
                        <a:srgbClr val="F3F4F5"/>
                      </a:solidFill>
                      <a:prstDash val="solid"/>
                      <a:round/>
                      <a:headEnd type="none" w="med" len="med"/>
                      <a:tailEnd type="none" w="med" len="med"/>
                    </a:lnL>
                    <a:lnR w="12700" cap="flat" cmpd="sng" algn="ctr">
                      <a:solidFill>
                        <a:srgbClr val="F3F4F5"/>
                      </a:solidFill>
                      <a:prstDash val="solid"/>
                      <a:round/>
                      <a:headEnd type="none" w="med" len="med"/>
                      <a:tailEnd type="none" w="med" len="med"/>
                    </a:lnR>
                    <a:lnT w="12700" cap="flat" cmpd="sng" algn="ctr">
                      <a:solidFill>
                        <a:srgbClr val="F3F4F5"/>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3F4F5"/>
                    </a:solidFill>
                  </a:tcPr>
                </a:tc>
              </a:tr>
              <a:tr h="413930">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Blouse</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$10,410</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3930">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Shirt</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$10,332</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3930">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Dress</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$10,320</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3930">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Pants</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$10,090</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7580">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Jewelry</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334155"/>
                          </a:solidFill>
                          <a:latin typeface="JetBrains Mono" pitchFamily="34" charset="0"/>
                          <a:ea typeface="JetBrains Mono" pitchFamily="34" charset="-122"/>
                          <a:cs typeface="JetBrains Mono" pitchFamily="34" charset="-120"/>
                        </a:rPr>
                        <a:t>$10,010</a:t>
                      </a:r>
                      <a:endParaRPr lang="en-US" sz="1150" dirty="0">
                        <a:latin typeface="JetBrains Mono" charset="0"/>
                        <a:ea typeface="JetBrains Mono" charset="0"/>
                        <a:cs typeface="JetBrains Mono" charset="0"/>
                      </a:endParaRPr>
                    </a:p>
                  </a:txBody>
                  <a:tcPr marL="152396" marR="152396"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9" name="Text 5"/>
          <p:cNvSpPr/>
          <p:nvPr/>
        </p:nvSpPr>
        <p:spPr>
          <a:xfrm>
            <a:off x="507987" y="4396581"/>
            <a:ext cx="3572778" cy="666750"/>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34155"/>
                </a:solidFill>
                <a:latin typeface="Inter Medium" pitchFamily="34" charset="0"/>
                <a:ea typeface="Inter Medium" pitchFamily="34" charset="-122"/>
                <a:cs typeface="Inter Medium" pitchFamily="34" charset="-120"/>
              </a:rPr>
              <a:t>Use the category mix to prioritize a deeper margin and inventory review; sales alone are not profitability.</a:t>
            </a:r>
            <a:endParaRPr lang="en-US" sz="1250" dirty="0"/>
          </a:p>
        </p:txBody>
      </p:sp>
      <p:sp>
        <p:nvSpPr>
          <p:cNvPr id="10" name="Shape 6"/>
          <p:cNvSpPr/>
          <p:nvPr/>
        </p:nvSpPr>
        <p:spPr>
          <a:xfrm>
            <a:off x="4537954" y="4396581"/>
            <a:ext cx="7145754" cy="1289050"/>
          </a:xfrm>
          <a:prstGeom prst="rect">
            <a:avLst/>
          </a:prstGeom>
          <a:solidFill>
            <a:srgbClr val="FFFFFF"/>
          </a:solidFill>
          <a:ln/>
        </p:spPr>
      </p:sp>
      <p:sp>
        <p:nvSpPr>
          <p:cNvPr id="11" name="Text 7"/>
          <p:cNvSpPr/>
          <p:nvPr/>
        </p:nvSpPr>
        <p:spPr>
          <a:xfrm>
            <a:off x="4766548" y="4548981"/>
            <a:ext cx="6917160"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12" name="Text 8"/>
          <p:cNvSpPr/>
          <p:nvPr/>
        </p:nvSpPr>
        <p:spPr>
          <a:xfrm>
            <a:off x="4766548" y="4866481"/>
            <a:ext cx="6688565" cy="666750"/>
          </a:xfrm>
          <a:prstGeom prst="rect">
            <a:avLst/>
          </a:prstGeom>
          <a:noFill/>
          <a:ln/>
        </p:spPr>
        <p:txBody>
          <a:bodyPr wrap="square" lIns="0" tIns="0" rIns="0" bIns="0" rtlCol="0" anchor="t">
            <a:normAutofit/>
          </a:bodyPr>
          <a:lstStyle/>
          <a:p>
            <a:pPr algn="l" indent="0" marL="0">
              <a:lnSpc>
                <a:spcPct val="117000"/>
              </a:lnSpc>
              <a:buNone/>
            </a:pPr>
            <a:r>
              <a:rPr lang="en-US" sz="1250" dirty="0">
                <a:solidFill>
                  <a:srgbClr val="334155"/>
                </a:solidFill>
                <a:latin typeface="Inter Medium" pitchFamily="34" charset="0"/>
                <a:ea typeface="Inter Medium" pitchFamily="34" charset="-122"/>
                <a:cs typeface="Inter Medium" pitchFamily="34" charset="-120"/>
              </a:rPr>
              <a:t>Clothing is the largest sales category at about $104,000, with accessories next at $74,000. The top products are closely grouped around $10,000 each. I’d use this as a starting point for a margin and availability review, not as a profitability ranking.</a:t>
            </a:r>
            <a:endParaRPr lang="en-US" sz="1250" dirty="0"/>
          </a:p>
        </p:txBody>
      </p:sp>
      <p:sp>
        <p:nvSpPr>
          <p:cNvPr id="13" name="Text 9"/>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14" name="Text 10"/>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7987" y="4318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REVENUE MIX · PURCHASE CADENCE</a:t>
            </a:r>
            <a:endParaRPr lang="en-US" sz="1100" dirty="0"/>
          </a:p>
        </p:txBody>
      </p:sp>
      <p:sp>
        <p:nvSpPr>
          <p:cNvPr id="3" name="Text 1"/>
          <p:cNvSpPr/>
          <p:nvPr/>
        </p:nvSpPr>
        <p:spPr>
          <a:xfrm>
            <a:off x="507987" y="714375"/>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Quarterly and fortnightly buyers account for the most sales</a:t>
            </a:r>
            <a:endParaRPr lang="en-US" sz="3200" dirty="0"/>
          </a:p>
        </p:txBody>
      </p:sp>
      <p:sp>
        <p:nvSpPr>
          <p:cNvPr id="4" name="Shape 2"/>
          <p:cNvSpPr/>
          <p:nvPr/>
        </p:nvSpPr>
        <p:spPr>
          <a:xfrm>
            <a:off x="507987" y="1337370"/>
            <a:ext cx="3521979" cy="1645444"/>
          </a:xfrm>
          <a:prstGeom prst="roundRect">
            <a:avLst>
              <a:gd name="adj" fmla="val 8336"/>
            </a:avLst>
          </a:prstGeom>
          <a:solidFill>
            <a:srgbClr val="FFFFFF"/>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5" name="Text 3"/>
          <p:cNvSpPr/>
          <p:nvPr/>
        </p:nvSpPr>
        <p:spPr>
          <a:xfrm>
            <a:off x="742931" y="1546920"/>
            <a:ext cx="3287035"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QUARTERLY</a:t>
            </a:r>
            <a:endParaRPr lang="en-US" sz="1100" dirty="0"/>
          </a:p>
        </p:txBody>
      </p:sp>
      <p:sp>
        <p:nvSpPr>
          <p:cNvPr id="6" name="Text 4"/>
          <p:cNvSpPr/>
          <p:nvPr/>
        </p:nvSpPr>
        <p:spPr>
          <a:xfrm>
            <a:off x="742931" y="1829495"/>
            <a:ext cx="3052091" cy="406400"/>
          </a:xfrm>
          <a:prstGeom prst="rect">
            <a:avLst/>
          </a:prstGeom>
          <a:noFill/>
          <a:ln/>
        </p:spPr>
        <p:txBody>
          <a:bodyPr wrap="none" lIns="0" tIns="0" rIns="0" bIns="0" rtlCol="0" anchor="t"/>
          <a:lstStyle/>
          <a:p>
            <a:pPr algn="l" indent="0" marL="0">
              <a:lnSpc>
                <a:spcPct val="83000"/>
              </a:lnSpc>
              <a:buNone/>
            </a:pPr>
            <a:r>
              <a:rPr lang="en-US" sz="3200" b="1" spc="-160" kern="0" dirty="0">
                <a:solidFill>
                  <a:srgbClr val="E5644F"/>
                </a:solidFill>
                <a:latin typeface="JetBrains Mono Bold" pitchFamily="34" charset="0"/>
                <a:ea typeface="JetBrains Mono Bold" pitchFamily="34" charset="-122"/>
                <a:cs typeface="JetBrains Mono Bold" pitchFamily="34" charset="-120"/>
              </a:rPr>
              <a:t>$68,859</a:t>
            </a:r>
            <a:endParaRPr lang="en-US" sz="3200" dirty="0"/>
          </a:p>
        </p:txBody>
      </p:sp>
      <p:sp>
        <p:nvSpPr>
          <p:cNvPr id="7" name="Text 5"/>
          <p:cNvSpPr/>
          <p:nvPr/>
        </p:nvSpPr>
        <p:spPr>
          <a:xfrm>
            <a:off x="742931" y="2420045"/>
            <a:ext cx="3287035" cy="257770"/>
          </a:xfrm>
          <a:prstGeom prst="rect">
            <a:avLst/>
          </a:prstGeom>
          <a:noFill/>
          <a:ln/>
        </p:spPr>
        <p:txBody>
          <a:bodyPr wrap="none" lIns="0" tIns="0" rIns="0" bIns="0" rtlCol="0" anchor="t"/>
          <a:lstStyle/>
          <a:p>
            <a:pPr algn="l" indent="0" marL="0">
              <a:lnSpc>
                <a:spcPct val="117000"/>
              </a:lnSpc>
              <a:buNone/>
            </a:pPr>
            <a:r>
              <a:rPr lang="en-US" sz="1450" b="1" dirty="0">
                <a:solidFill>
                  <a:srgbClr val="334155"/>
                </a:solidFill>
                <a:latin typeface="Inter Bold" pitchFamily="34" charset="0"/>
                <a:ea typeface="Inter Bold" pitchFamily="34" charset="-122"/>
                <a:cs typeface="Inter Bold" pitchFamily="34" charset="-120"/>
              </a:rPr>
              <a:t>1,147 customers</a:t>
            </a:r>
            <a:endParaRPr lang="en-US" sz="1450" dirty="0"/>
          </a:p>
        </p:txBody>
      </p:sp>
      <p:sp>
        <p:nvSpPr>
          <p:cNvPr id="8" name="Shape 6"/>
          <p:cNvSpPr/>
          <p:nvPr/>
        </p:nvSpPr>
        <p:spPr>
          <a:xfrm>
            <a:off x="4334759" y="1337370"/>
            <a:ext cx="3522078" cy="1645444"/>
          </a:xfrm>
          <a:prstGeom prst="roundRect">
            <a:avLst>
              <a:gd name="adj" fmla="val 8336"/>
            </a:avLst>
          </a:prstGeom>
          <a:solidFill>
            <a:srgbClr val="FFFFFF"/>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9" name="Text 7"/>
          <p:cNvSpPr/>
          <p:nvPr/>
        </p:nvSpPr>
        <p:spPr>
          <a:xfrm>
            <a:off x="4569703" y="1546920"/>
            <a:ext cx="3287134"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FORTNIGHTLY</a:t>
            </a:r>
            <a:endParaRPr lang="en-US" sz="1100" dirty="0"/>
          </a:p>
        </p:txBody>
      </p:sp>
      <p:sp>
        <p:nvSpPr>
          <p:cNvPr id="10" name="Text 8"/>
          <p:cNvSpPr/>
          <p:nvPr/>
        </p:nvSpPr>
        <p:spPr>
          <a:xfrm>
            <a:off x="4569703" y="1829495"/>
            <a:ext cx="3052190" cy="406400"/>
          </a:xfrm>
          <a:prstGeom prst="rect">
            <a:avLst/>
          </a:prstGeom>
          <a:noFill/>
          <a:ln/>
        </p:spPr>
        <p:txBody>
          <a:bodyPr wrap="none" lIns="0" tIns="0" rIns="0" bIns="0" rtlCol="0" anchor="t"/>
          <a:lstStyle/>
          <a:p>
            <a:pPr algn="l" indent="0" marL="0">
              <a:lnSpc>
                <a:spcPct val="83000"/>
              </a:lnSpc>
              <a:buNone/>
            </a:pPr>
            <a:r>
              <a:rPr lang="en-US" sz="3200" b="1" spc="-160" kern="0" dirty="0">
                <a:solidFill>
                  <a:srgbClr val="0A736A"/>
                </a:solidFill>
                <a:latin typeface="JetBrains Mono Bold" pitchFamily="34" charset="0"/>
                <a:ea typeface="JetBrains Mono Bold" pitchFamily="34" charset="-122"/>
                <a:cs typeface="JetBrains Mono Bold" pitchFamily="34" charset="-120"/>
              </a:rPr>
              <a:t>$65,207</a:t>
            </a:r>
            <a:endParaRPr lang="en-US" sz="3200" dirty="0"/>
          </a:p>
        </p:txBody>
      </p:sp>
      <p:sp>
        <p:nvSpPr>
          <p:cNvPr id="11" name="Text 9"/>
          <p:cNvSpPr/>
          <p:nvPr/>
        </p:nvSpPr>
        <p:spPr>
          <a:xfrm>
            <a:off x="4569703" y="2420045"/>
            <a:ext cx="3287134" cy="257770"/>
          </a:xfrm>
          <a:prstGeom prst="rect">
            <a:avLst/>
          </a:prstGeom>
          <a:noFill/>
          <a:ln/>
        </p:spPr>
        <p:txBody>
          <a:bodyPr wrap="none" lIns="0" tIns="0" rIns="0" bIns="0" rtlCol="0" anchor="t"/>
          <a:lstStyle/>
          <a:p>
            <a:pPr algn="l" indent="0" marL="0">
              <a:lnSpc>
                <a:spcPct val="117000"/>
              </a:lnSpc>
              <a:buNone/>
            </a:pPr>
            <a:r>
              <a:rPr lang="en-US" sz="1450" b="1" dirty="0">
                <a:solidFill>
                  <a:srgbClr val="334155"/>
                </a:solidFill>
                <a:latin typeface="Inter Bold" pitchFamily="34" charset="0"/>
                <a:ea typeface="Inter Bold" pitchFamily="34" charset="-122"/>
                <a:cs typeface="Inter Bold" pitchFamily="34" charset="-120"/>
              </a:rPr>
              <a:t>1,089 customers</a:t>
            </a:r>
            <a:endParaRPr lang="en-US" sz="1450" dirty="0"/>
          </a:p>
        </p:txBody>
      </p:sp>
      <p:sp>
        <p:nvSpPr>
          <p:cNvPr id="12" name="Shape 10"/>
          <p:cNvSpPr/>
          <p:nvPr/>
        </p:nvSpPr>
        <p:spPr>
          <a:xfrm>
            <a:off x="8161629" y="1337370"/>
            <a:ext cx="3522078" cy="1645444"/>
          </a:xfrm>
          <a:prstGeom prst="roundRect">
            <a:avLst>
              <a:gd name="adj" fmla="val 8336"/>
            </a:avLst>
          </a:prstGeom>
          <a:solidFill>
            <a:srgbClr val="FFFFFF"/>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13" name="Text 11"/>
          <p:cNvSpPr/>
          <p:nvPr/>
        </p:nvSpPr>
        <p:spPr>
          <a:xfrm>
            <a:off x="8396574" y="1546920"/>
            <a:ext cx="3287134"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ANNUAL · MONTHLY · WEEKLY</a:t>
            </a:r>
            <a:endParaRPr lang="en-US" sz="1100" dirty="0"/>
          </a:p>
        </p:txBody>
      </p:sp>
      <p:sp>
        <p:nvSpPr>
          <p:cNvPr id="14" name="Text 12"/>
          <p:cNvSpPr/>
          <p:nvPr/>
        </p:nvSpPr>
        <p:spPr>
          <a:xfrm>
            <a:off x="8396574" y="1829495"/>
            <a:ext cx="3052190"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About $32K–$34K each</a:t>
            </a:r>
            <a:endParaRPr lang="en-US" sz="2150" dirty="0"/>
          </a:p>
        </p:txBody>
      </p:sp>
      <p:sp>
        <p:nvSpPr>
          <p:cNvPr id="15" name="Text 13"/>
          <p:cNvSpPr/>
          <p:nvPr/>
        </p:nvSpPr>
        <p:spPr>
          <a:xfrm>
            <a:off x="8396574" y="2257723"/>
            <a:ext cx="3052190"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Each cadence group contributes within this range.</a:t>
            </a:r>
            <a:endParaRPr lang="en-US" sz="1450" dirty="0"/>
          </a:p>
        </p:txBody>
      </p:sp>
      <p:sp>
        <p:nvSpPr>
          <p:cNvPr id="16" name="Text 14"/>
          <p:cNvSpPr/>
          <p:nvPr/>
        </p:nvSpPr>
        <p:spPr>
          <a:xfrm>
            <a:off x="507987" y="3147913"/>
            <a:ext cx="11683708" cy="222250"/>
          </a:xfrm>
          <a:prstGeom prst="rect">
            <a:avLst/>
          </a:prstGeom>
          <a:noFill/>
          <a:ln/>
        </p:spPr>
        <p:txBody>
          <a:bodyPr wrap="none" lIns="0" tIns="0" rIns="0" bIns="0" rtlCol="0" anchor="t"/>
          <a:lstStyle/>
          <a:p>
            <a:pPr algn="l" indent="0" marL="0">
              <a:lnSpc>
                <a:spcPct val="117000"/>
              </a:lnSpc>
              <a:buNone/>
            </a:pPr>
            <a:r>
              <a:rPr lang="en-US" sz="1250" dirty="0">
                <a:solidFill>
                  <a:srgbClr val="334155"/>
                </a:solidFill>
                <a:latin typeface="Inter Medium" pitchFamily="34" charset="0"/>
                <a:ea typeface="Inter Medium" pitchFamily="34" charset="-122"/>
                <a:cs typeface="Inter Medium" pitchFamily="34" charset="-120"/>
              </a:rPr>
              <a:t>Sales and customer counts move together; the dashboard does not establish which cadence causes higher spend.</a:t>
            </a:r>
            <a:endParaRPr lang="en-US" sz="1250" dirty="0"/>
          </a:p>
        </p:txBody>
      </p:sp>
      <p:sp>
        <p:nvSpPr>
          <p:cNvPr id="17" name="Shape 15"/>
          <p:cNvSpPr/>
          <p:nvPr/>
        </p:nvSpPr>
        <p:spPr>
          <a:xfrm>
            <a:off x="507987" y="3535263"/>
            <a:ext cx="11175720" cy="1395611"/>
          </a:xfrm>
          <a:prstGeom prst="rect">
            <a:avLst/>
          </a:prstGeom>
          <a:solidFill>
            <a:srgbClr val="FFFFFF"/>
          </a:solidFill>
          <a:ln/>
        </p:spPr>
      </p:sp>
      <p:sp>
        <p:nvSpPr>
          <p:cNvPr id="18" name="Text 16"/>
          <p:cNvSpPr/>
          <p:nvPr/>
        </p:nvSpPr>
        <p:spPr>
          <a:xfrm>
            <a:off x="736582" y="3687663"/>
            <a:ext cx="1094712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19" name="Text 17"/>
          <p:cNvSpPr/>
          <p:nvPr/>
        </p:nvSpPr>
        <p:spPr>
          <a:xfrm>
            <a:off x="736582" y="4005163"/>
            <a:ext cx="10718532" cy="77331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Quarterly and fortnightly groups are the largest by both customer count and sales. The remaining cadence groups are smaller and fairly close to one another. This points to where the current volume sits, but not yet to a campaign that would change purchase frequency.</a:t>
            </a:r>
            <a:endParaRPr lang="en-US" sz="1450" dirty="0"/>
          </a:p>
        </p:txBody>
      </p:sp>
      <p:sp>
        <p:nvSpPr>
          <p:cNvPr id="20" name="Text 18"/>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21" name="Text 19"/>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4064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REVENUE MIX · SUBSCRIPTION</a:t>
            </a:r>
            <a:endParaRPr lang="en-US" sz="1100" dirty="0"/>
          </a:p>
        </p:txBody>
      </p:sp>
      <p:sp>
        <p:nvSpPr>
          <p:cNvPr id="3" name="Text 1"/>
          <p:cNvSpPr/>
          <p:nvPr/>
        </p:nvSpPr>
        <p:spPr>
          <a:xfrm>
            <a:off x="507987" y="688975"/>
            <a:ext cx="11175720" cy="877689"/>
          </a:xfrm>
          <a:prstGeom prst="rect">
            <a:avLst/>
          </a:prstGeom>
          <a:noFill/>
          <a:ln/>
        </p:spPr>
        <p:txBody>
          <a:bodyPr wrap="square" lIns="0" tIns="0" rIns="0" bIns="0" rtlCol="0" anchor="t">
            <a:normAutofit/>
          </a:bodyPr>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Subscribers contribute less total sales, not less per-customer sales</a:t>
            </a:r>
            <a:endParaRPr lang="en-US" sz="3200" dirty="0"/>
          </a:p>
        </p:txBody>
      </p:sp>
      <p:sp>
        <p:nvSpPr>
          <p:cNvPr id="4" name="Text 2"/>
          <p:cNvSpPr/>
          <p:nvPr/>
        </p:nvSpPr>
        <p:spPr>
          <a:xfrm>
            <a:off x="507987" y="1750814"/>
            <a:ext cx="5359266" cy="200025"/>
          </a:xfrm>
          <a:prstGeom prst="rect">
            <a:avLst/>
          </a:prstGeom>
          <a:noFill/>
          <a:ln/>
        </p:spPr>
        <p:txBody>
          <a:bodyPr wrap="none" lIns="0" tIns="0" rIns="0" bIns="0" rtlCol="0" anchor="t"/>
          <a:lstStyle/>
          <a:p>
            <a:pPr algn="l" indent="0" marL="0">
              <a:lnSpc>
                <a:spcPct val="125000"/>
              </a:lnSpc>
              <a:buNone/>
            </a:pPr>
            <a:r>
              <a:rPr lang="en-US" sz="1050" spc="115" kern="0" dirty="0">
                <a:solidFill>
                  <a:srgbClr val="64748B"/>
                </a:solidFill>
                <a:latin typeface="JetBrains Mono Medium" pitchFamily="34" charset="0"/>
                <a:ea typeface="JetBrains Mono Medium" pitchFamily="34" charset="-122"/>
                <a:cs typeface="JetBrains Mono Medium" pitchFamily="34" charset="-120"/>
              </a:rPr>
              <a:t>TOTAL SALES · APPROXIMATE $K</a:t>
            </a:r>
            <a:endParaRPr lang="en-US" sz="1050" dirty="0"/>
          </a:p>
        </p:txBody>
      </p:sp>
      <p:pic>
        <p:nvPicPr>
          <p:cNvPr id="5" name="Image 0" descr="preencoded.png">    </p:cNvPr>
          <p:cNvPicPr>
            <a:picLocks noChangeAspect="1"/>
          </p:cNvPicPr>
          <p:nvPr/>
        </p:nvPicPr>
        <p:blipFill>
          <a:blip r:embed="rId1"/>
          <a:stretch>
            <a:fillRect/>
          </a:stretch>
        </p:blipFill>
        <p:spPr>
          <a:xfrm>
            <a:off x="507987" y="2058789"/>
            <a:ext cx="5359266" cy="2368054"/>
          </a:xfrm>
          <a:prstGeom prst="rect">
            <a:avLst/>
          </a:prstGeom>
        </p:spPr>
      </p:pic>
      <p:sp>
        <p:nvSpPr>
          <p:cNvPr id="6" name="Text 3"/>
          <p:cNvSpPr/>
          <p:nvPr/>
        </p:nvSpPr>
        <p:spPr>
          <a:xfrm>
            <a:off x="507987" y="4499868"/>
            <a:ext cx="5359266" cy="400050"/>
          </a:xfrm>
          <a:prstGeom prst="rect">
            <a:avLst/>
          </a:prstGeom>
          <a:noFill/>
          <a:ln/>
        </p:spPr>
        <p:txBody>
          <a:bodyPr wrap="square" lIns="0" tIns="0" rIns="0" bIns="0" rtlCol="0" anchor="t">
            <a:normAutofit/>
          </a:bodyPr>
          <a:lstStyle/>
          <a:p>
            <a:pPr algn="l" indent="0" marL="0">
              <a:lnSpc>
                <a:spcPct val="125000"/>
              </a:lnSpc>
              <a:buNone/>
            </a:pPr>
            <a:r>
              <a:rPr lang="en-US" sz="1050" spc="115" kern="0" dirty="0">
                <a:solidFill>
                  <a:srgbClr val="64748B"/>
                </a:solidFill>
                <a:latin typeface="JetBrains Mono Medium" pitchFamily="34" charset="0"/>
                <a:ea typeface="JetBrains Mono Medium" pitchFamily="34" charset="-122"/>
                <a:cs typeface="JetBrains Mono Medium" pitchFamily="34" charset="-120"/>
              </a:rPr>
              <a:t>SUBSCRIBERS · 26.88% OF SALES   /   NON-SUBSCRIBERS · 73.12%</a:t>
            </a:r>
            <a:endParaRPr lang="en-US" sz="1050" dirty="0"/>
          </a:p>
        </p:txBody>
      </p:sp>
      <p:sp>
        <p:nvSpPr>
          <p:cNvPr id="7" name="Text 4"/>
          <p:cNvSpPr/>
          <p:nvPr/>
        </p:nvSpPr>
        <p:spPr>
          <a:xfrm>
            <a:off x="6324442" y="1750814"/>
            <a:ext cx="535926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REVENUE PER CUSTOMER · CALCULATED FROM MATRIX</a:t>
            </a:r>
            <a:endParaRPr lang="en-US" sz="1100" dirty="0"/>
          </a:p>
        </p:txBody>
      </p:sp>
      <p:sp>
        <p:nvSpPr>
          <p:cNvPr id="8" name="Text 5"/>
          <p:cNvSpPr/>
          <p:nvPr/>
        </p:nvSpPr>
        <p:spPr>
          <a:xfrm>
            <a:off x="6324442" y="2068314"/>
            <a:ext cx="2451039" cy="233164"/>
          </a:xfrm>
          <a:prstGeom prst="rect">
            <a:avLst/>
          </a:prstGeom>
          <a:noFill/>
          <a:ln/>
        </p:spPr>
        <p:txBody>
          <a:bodyPr wrap="none" lIns="0" tIns="0" rIns="0" bIns="0" rtlCol="0" anchor="t"/>
          <a:lstStyle/>
          <a:p>
            <a:pPr algn="l" indent="0" marL="0">
              <a:lnSpc>
                <a:spcPct val="90000"/>
              </a:lnSpc>
              <a:buNone/>
            </a:pPr>
            <a:r>
              <a:rPr lang="en-US" sz="1700" spc="-34" kern="0" dirty="0">
                <a:solidFill>
                  <a:srgbClr val="1E293B"/>
                </a:solidFill>
                <a:latin typeface="Source Sans 3 SemiBold" pitchFamily="34" charset="0"/>
                <a:ea typeface="Source Sans 3 SemiBold" pitchFamily="34" charset="-122"/>
                <a:cs typeface="Source Sans 3 SemiBold" pitchFamily="34" charset="-120"/>
              </a:rPr>
              <a:t>Subscribers</a:t>
            </a:r>
            <a:endParaRPr lang="en-US" sz="1700" dirty="0"/>
          </a:p>
        </p:txBody>
      </p:sp>
      <p:sp>
        <p:nvSpPr>
          <p:cNvPr id="9" name="Text 6"/>
          <p:cNvSpPr/>
          <p:nvPr/>
        </p:nvSpPr>
        <p:spPr>
          <a:xfrm>
            <a:off x="6324442" y="2434828"/>
            <a:ext cx="2679633" cy="257770"/>
          </a:xfrm>
          <a:prstGeom prst="rect">
            <a:avLst/>
          </a:prstGeom>
          <a:noFill/>
          <a:ln/>
        </p:spPr>
        <p:txBody>
          <a:bodyPr wrap="none" lIns="0" tIns="0" rIns="0" bIns="0" rtlCol="0" anchor="t"/>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1,053 customers</a:t>
            </a:r>
            <a:endParaRPr lang="en-US" sz="1450" dirty="0"/>
          </a:p>
        </p:txBody>
      </p:sp>
      <p:sp>
        <p:nvSpPr>
          <p:cNvPr id="10" name="Text 7"/>
          <p:cNvSpPr/>
          <p:nvPr/>
        </p:nvSpPr>
        <p:spPr>
          <a:xfrm>
            <a:off x="6324442" y="2857698"/>
            <a:ext cx="2451039" cy="294878"/>
          </a:xfrm>
          <a:prstGeom prst="rect">
            <a:avLst/>
          </a:prstGeom>
          <a:noFill/>
          <a:ln/>
        </p:spPr>
        <p:txBody>
          <a:bodyPr wrap="none" lIns="0" tIns="0" rIns="0" bIns="0" rtlCol="0" anchor="t"/>
          <a:lstStyle/>
          <a:p>
            <a:pPr algn="l" indent="0" marL="0">
              <a:lnSpc>
                <a:spcPct val="90000"/>
              </a:lnSpc>
              <a:buNone/>
            </a:pPr>
            <a:r>
              <a:rPr lang="en-US" sz="2150" b="1" spc="-43" kern="0" dirty="0">
                <a:solidFill>
                  <a:srgbClr val="0A736A"/>
                </a:solidFill>
                <a:latin typeface="JetBrains Mono Bold" pitchFamily="34" charset="0"/>
                <a:ea typeface="JetBrains Mono Bold" pitchFamily="34" charset="-122"/>
                <a:cs typeface="JetBrains Mono Bold" pitchFamily="34" charset="-120"/>
              </a:rPr>
              <a:t>Roughly $59–$60</a:t>
            </a:r>
            <a:endParaRPr lang="en-US" sz="2150" dirty="0"/>
          </a:p>
        </p:txBody>
      </p:sp>
      <p:sp>
        <p:nvSpPr>
          <p:cNvPr id="11" name="Text 8"/>
          <p:cNvSpPr/>
          <p:nvPr/>
        </p:nvSpPr>
        <p:spPr>
          <a:xfrm>
            <a:off x="9232669" y="2068314"/>
            <a:ext cx="2451039" cy="233164"/>
          </a:xfrm>
          <a:prstGeom prst="rect">
            <a:avLst/>
          </a:prstGeom>
          <a:noFill/>
          <a:ln/>
        </p:spPr>
        <p:txBody>
          <a:bodyPr wrap="none" lIns="0" tIns="0" rIns="0" bIns="0" rtlCol="0" anchor="t"/>
          <a:lstStyle/>
          <a:p>
            <a:pPr algn="l" indent="0" marL="0">
              <a:lnSpc>
                <a:spcPct val="90000"/>
              </a:lnSpc>
              <a:buNone/>
            </a:pPr>
            <a:r>
              <a:rPr lang="en-US" sz="1700" spc="-34" kern="0" dirty="0">
                <a:solidFill>
                  <a:srgbClr val="1E293B"/>
                </a:solidFill>
                <a:latin typeface="Source Sans 3 SemiBold" pitchFamily="34" charset="0"/>
                <a:ea typeface="Source Sans 3 SemiBold" pitchFamily="34" charset="-122"/>
                <a:cs typeface="Source Sans 3 SemiBold" pitchFamily="34" charset="-120"/>
              </a:rPr>
              <a:t>Non-subscribers</a:t>
            </a:r>
            <a:endParaRPr lang="en-US" sz="1700" dirty="0"/>
          </a:p>
        </p:txBody>
      </p:sp>
      <p:sp>
        <p:nvSpPr>
          <p:cNvPr id="12" name="Text 9"/>
          <p:cNvSpPr/>
          <p:nvPr/>
        </p:nvSpPr>
        <p:spPr>
          <a:xfrm>
            <a:off x="9232669" y="2434828"/>
            <a:ext cx="2451039" cy="257770"/>
          </a:xfrm>
          <a:prstGeom prst="rect">
            <a:avLst/>
          </a:prstGeom>
          <a:noFill/>
          <a:ln/>
        </p:spPr>
        <p:txBody>
          <a:bodyPr wrap="none" lIns="0" tIns="0" rIns="0" bIns="0" rtlCol="0" anchor="t"/>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2,847 customers</a:t>
            </a:r>
            <a:endParaRPr lang="en-US" sz="1450" dirty="0"/>
          </a:p>
        </p:txBody>
      </p:sp>
      <p:sp>
        <p:nvSpPr>
          <p:cNvPr id="13" name="Text 10"/>
          <p:cNvSpPr/>
          <p:nvPr/>
        </p:nvSpPr>
        <p:spPr>
          <a:xfrm>
            <a:off x="9232669" y="2857698"/>
            <a:ext cx="2451039" cy="294878"/>
          </a:xfrm>
          <a:prstGeom prst="rect">
            <a:avLst/>
          </a:prstGeom>
          <a:noFill/>
          <a:ln/>
        </p:spPr>
        <p:txBody>
          <a:bodyPr wrap="none" lIns="0" tIns="0" rIns="0" bIns="0" rtlCol="0" anchor="t"/>
          <a:lstStyle/>
          <a:p>
            <a:pPr algn="l" indent="0" marL="0">
              <a:lnSpc>
                <a:spcPct val="90000"/>
              </a:lnSpc>
              <a:buNone/>
            </a:pPr>
            <a:r>
              <a:rPr lang="en-US" sz="2150" b="1" spc="-43" kern="0" dirty="0">
                <a:solidFill>
                  <a:srgbClr val="0A736A"/>
                </a:solidFill>
                <a:latin typeface="JetBrains Mono Bold" pitchFamily="34" charset="0"/>
                <a:ea typeface="JetBrains Mono Bold" pitchFamily="34" charset="-122"/>
                <a:cs typeface="JetBrains Mono Bold" pitchFamily="34" charset="-120"/>
              </a:rPr>
              <a:t>Roughly $59–$60</a:t>
            </a:r>
            <a:endParaRPr lang="en-US" sz="2150" dirty="0"/>
          </a:p>
        </p:txBody>
      </p:sp>
      <p:sp>
        <p:nvSpPr>
          <p:cNvPr id="14" name="Text 11"/>
          <p:cNvSpPr/>
          <p:nvPr/>
        </p:nvSpPr>
        <p:spPr>
          <a:xfrm>
            <a:off x="6324442" y="3260527"/>
            <a:ext cx="5359266" cy="222250"/>
          </a:xfrm>
          <a:prstGeom prst="rect">
            <a:avLst/>
          </a:prstGeom>
          <a:noFill/>
          <a:ln/>
        </p:spPr>
        <p:txBody>
          <a:bodyPr wrap="none" lIns="0" tIns="0" rIns="0" bIns="0" rtlCol="0" anchor="t"/>
          <a:lstStyle/>
          <a:p>
            <a:pPr algn="l" indent="0" marL="0">
              <a:lnSpc>
                <a:spcPct val="117000"/>
              </a:lnSpc>
              <a:buNone/>
            </a:pPr>
            <a:r>
              <a:rPr lang="en-US" sz="1250" dirty="0">
                <a:solidFill>
                  <a:srgbClr val="334155"/>
                </a:solidFill>
                <a:latin typeface="Inter Medium" pitchFamily="34" charset="0"/>
                <a:ea typeface="Inter Medium" pitchFamily="34" charset="-122"/>
                <a:cs typeface="Inter Medium" pitchFamily="34" charset="-120"/>
              </a:rPr>
              <a:t>Subscription is not shown as a spend lift.</a:t>
            </a:r>
            <a:endParaRPr lang="en-US" sz="1250" dirty="0"/>
          </a:p>
        </p:txBody>
      </p:sp>
      <p:sp>
        <p:nvSpPr>
          <p:cNvPr id="15" name="Shape 12"/>
          <p:cNvSpPr/>
          <p:nvPr/>
        </p:nvSpPr>
        <p:spPr>
          <a:xfrm>
            <a:off x="507987" y="5065018"/>
            <a:ext cx="11175720" cy="1395611"/>
          </a:xfrm>
          <a:prstGeom prst="rect">
            <a:avLst/>
          </a:prstGeom>
          <a:solidFill>
            <a:srgbClr val="FFFFFF"/>
          </a:solidFill>
          <a:ln/>
        </p:spPr>
      </p:sp>
      <p:sp>
        <p:nvSpPr>
          <p:cNvPr id="16" name="Text 13"/>
          <p:cNvSpPr/>
          <p:nvPr/>
        </p:nvSpPr>
        <p:spPr>
          <a:xfrm>
            <a:off x="736582" y="5217418"/>
            <a:ext cx="1094712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17" name="Text 14"/>
          <p:cNvSpPr/>
          <p:nvPr/>
        </p:nvSpPr>
        <p:spPr>
          <a:xfrm>
            <a:off x="736582" y="5534918"/>
            <a:ext cx="10718532" cy="77331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Non-subscribers account for more total sales because they are the larger group. When we divide each group’s sales by its customer count, the result is roughly $60 in both cases. The dashboard does not show that subscription itself increases spend.</a:t>
            </a:r>
            <a:endParaRPr lang="en-US" sz="1450" dirty="0"/>
          </a:p>
        </p:txBody>
      </p:sp>
      <p:sp>
        <p:nvSpPr>
          <p:cNvPr id="18" name="Shape 15"/>
          <p:cNvSpPr/>
          <p:nvPr/>
        </p:nvSpPr>
        <p:spPr>
          <a:xfrm>
            <a:off x="8997725" y="2068314"/>
            <a:ext cx="12700" cy="1084263"/>
          </a:xfrm>
          <a:prstGeom prst="rect">
            <a:avLst/>
          </a:prstGeom>
          <a:solidFill>
            <a:srgbClr val="E2E8F0"/>
          </a:solidFill>
          <a:ln/>
        </p:spPr>
      </p:sp>
      <p:sp>
        <p:nvSpPr>
          <p:cNvPr id="19" name="Text 16"/>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20" name="Text 17"/>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7987" y="4064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REVENUE MIX · DISCOUNTS</a:t>
            </a:r>
            <a:endParaRPr lang="en-US" sz="1100" dirty="0"/>
          </a:p>
        </p:txBody>
      </p:sp>
      <p:sp>
        <p:nvSpPr>
          <p:cNvPr id="3" name="Text 1"/>
          <p:cNvSpPr/>
          <p:nvPr/>
        </p:nvSpPr>
        <p:spPr>
          <a:xfrm>
            <a:off x="507987" y="688975"/>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Discounts touch 43% of customers, but lift is unproven</a:t>
            </a:r>
            <a:endParaRPr lang="en-US" sz="3200" dirty="0"/>
          </a:p>
        </p:txBody>
      </p:sp>
      <p:sp>
        <p:nvSpPr>
          <p:cNvPr id="4" name="Text 2"/>
          <p:cNvSpPr/>
          <p:nvPr/>
        </p:nvSpPr>
        <p:spPr>
          <a:xfrm>
            <a:off x="507987" y="1311970"/>
            <a:ext cx="6073821" cy="200025"/>
          </a:xfrm>
          <a:prstGeom prst="rect">
            <a:avLst/>
          </a:prstGeom>
          <a:noFill/>
          <a:ln/>
        </p:spPr>
        <p:txBody>
          <a:bodyPr wrap="none" lIns="0" tIns="0" rIns="0" bIns="0" rtlCol="0" anchor="t"/>
          <a:lstStyle/>
          <a:p>
            <a:pPr algn="l" indent="0" marL="0">
              <a:lnSpc>
                <a:spcPct val="125000"/>
              </a:lnSpc>
              <a:buNone/>
            </a:pPr>
            <a:r>
              <a:rPr lang="en-US" sz="1050" spc="115" kern="0" dirty="0">
                <a:solidFill>
                  <a:srgbClr val="64748B"/>
                </a:solidFill>
                <a:latin typeface="JetBrains Mono Medium" pitchFamily="34" charset="0"/>
                <a:ea typeface="JetBrains Mono Medium" pitchFamily="34" charset="-122"/>
                <a:cs typeface="JetBrains Mono Medium" pitchFamily="34" charset="-120"/>
              </a:rPr>
              <a:t>TOTAL SALES · APPROXIMATE $K</a:t>
            </a:r>
            <a:endParaRPr lang="en-US" sz="1050" dirty="0"/>
          </a:p>
        </p:txBody>
      </p:sp>
      <p:pic>
        <p:nvPicPr>
          <p:cNvPr id="5" name="Image 0" descr="preencoded.png">    </p:cNvPr>
          <p:cNvPicPr>
            <a:picLocks noChangeAspect="1"/>
          </p:cNvPicPr>
          <p:nvPr/>
        </p:nvPicPr>
        <p:blipFill>
          <a:blip r:embed="rId1"/>
          <a:stretch>
            <a:fillRect/>
          </a:stretch>
        </p:blipFill>
        <p:spPr>
          <a:xfrm>
            <a:off x="507987" y="1619945"/>
            <a:ext cx="6073821" cy="2404269"/>
          </a:xfrm>
          <a:prstGeom prst="rect">
            <a:avLst/>
          </a:prstGeom>
        </p:spPr>
      </p:pic>
      <p:sp>
        <p:nvSpPr>
          <p:cNvPr id="6" name="Text 3"/>
          <p:cNvSpPr/>
          <p:nvPr/>
        </p:nvSpPr>
        <p:spPr>
          <a:xfrm>
            <a:off x="7038898" y="1311970"/>
            <a:ext cx="4644810"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DISCOUNTED</a:t>
            </a:r>
            <a:endParaRPr lang="en-US" sz="1100" dirty="0"/>
          </a:p>
        </p:txBody>
      </p:sp>
      <p:sp>
        <p:nvSpPr>
          <p:cNvPr id="7" name="Text 4"/>
          <p:cNvSpPr/>
          <p:nvPr/>
        </p:nvSpPr>
        <p:spPr>
          <a:xfrm>
            <a:off x="7038898" y="1594545"/>
            <a:ext cx="4644810" cy="406400"/>
          </a:xfrm>
          <a:prstGeom prst="rect">
            <a:avLst/>
          </a:prstGeom>
          <a:noFill/>
          <a:ln/>
        </p:spPr>
        <p:txBody>
          <a:bodyPr wrap="none" lIns="0" tIns="0" rIns="0" bIns="0" rtlCol="0" anchor="t"/>
          <a:lstStyle/>
          <a:p>
            <a:pPr algn="l" indent="0" marL="0">
              <a:lnSpc>
                <a:spcPct val="83000"/>
              </a:lnSpc>
              <a:buNone/>
            </a:pPr>
            <a:r>
              <a:rPr lang="en-US" sz="3200" b="1" spc="-160" kern="0" dirty="0">
                <a:solidFill>
                  <a:srgbClr val="E5644F"/>
                </a:solidFill>
                <a:latin typeface="JetBrains Mono Bold" pitchFamily="34" charset="0"/>
                <a:ea typeface="JetBrains Mono Bold" pitchFamily="34" charset="-122"/>
                <a:cs typeface="JetBrains Mono Bold" pitchFamily="34" charset="-120"/>
              </a:rPr>
              <a:t>1.68K</a:t>
            </a:r>
            <a:endParaRPr lang="en-US" sz="3200" dirty="0"/>
          </a:p>
        </p:txBody>
      </p:sp>
      <p:sp>
        <p:nvSpPr>
          <p:cNvPr id="8" name="Text 5"/>
          <p:cNvSpPr/>
          <p:nvPr/>
        </p:nvSpPr>
        <p:spPr>
          <a:xfrm>
            <a:off x="7038898" y="2185095"/>
            <a:ext cx="4644810" cy="257770"/>
          </a:xfrm>
          <a:prstGeom prst="rect">
            <a:avLst/>
          </a:prstGeom>
          <a:noFill/>
          <a:ln/>
        </p:spPr>
        <p:txBody>
          <a:bodyPr wrap="none" lIns="0" tIns="0" rIns="0" bIns="0" rtlCol="0" anchor="t"/>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Customers · 42.6% of sales</a:t>
            </a:r>
            <a:endParaRPr lang="en-US" sz="1450" dirty="0"/>
          </a:p>
        </p:txBody>
      </p:sp>
      <p:sp>
        <p:nvSpPr>
          <p:cNvPr id="9" name="Text 6"/>
          <p:cNvSpPr/>
          <p:nvPr/>
        </p:nvSpPr>
        <p:spPr>
          <a:xfrm>
            <a:off x="7038898" y="2900065"/>
            <a:ext cx="4644810"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NON-DISCOUNTED</a:t>
            </a:r>
            <a:endParaRPr lang="en-US" sz="1100" dirty="0"/>
          </a:p>
        </p:txBody>
      </p:sp>
      <p:sp>
        <p:nvSpPr>
          <p:cNvPr id="10" name="Text 7"/>
          <p:cNvSpPr/>
          <p:nvPr/>
        </p:nvSpPr>
        <p:spPr>
          <a:xfrm>
            <a:off x="7038898" y="3182640"/>
            <a:ext cx="4644810" cy="406400"/>
          </a:xfrm>
          <a:prstGeom prst="rect">
            <a:avLst/>
          </a:prstGeom>
          <a:noFill/>
          <a:ln/>
        </p:spPr>
        <p:txBody>
          <a:bodyPr wrap="none" lIns="0" tIns="0" rIns="0" bIns="0" rtlCol="0" anchor="t"/>
          <a:lstStyle/>
          <a:p>
            <a:pPr algn="l" indent="0" marL="0">
              <a:lnSpc>
                <a:spcPct val="83000"/>
              </a:lnSpc>
              <a:buNone/>
            </a:pPr>
            <a:r>
              <a:rPr lang="en-US" sz="3200" b="1" spc="-160" kern="0" dirty="0">
                <a:solidFill>
                  <a:srgbClr val="0A736A"/>
                </a:solidFill>
                <a:latin typeface="JetBrains Mono Bold" pitchFamily="34" charset="0"/>
                <a:ea typeface="JetBrains Mono Bold" pitchFamily="34" charset="-122"/>
                <a:cs typeface="JetBrains Mono Bold" pitchFamily="34" charset="-120"/>
              </a:rPr>
              <a:t>2.22K</a:t>
            </a:r>
            <a:endParaRPr lang="en-US" sz="3200" dirty="0"/>
          </a:p>
        </p:txBody>
      </p:sp>
      <p:sp>
        <p:nvSpPr>
          <p:cNvPr id="11" name="Text 8"/>
          <p:cNvSpPr/>
          <p:nvPr/>
        </p:nvSpPr>
        <p:spPr>
          <a:xfrm>
            <a:off x="7038898" y="3773190"/>
            <a:ext cx="4644810" cy="257770"/>
          </a:xfrm>
          <a:prstGeom prst="rect">
            <a:avLst/>
          </a:prstGeom>
          <a:noFill/>
          <a:ln/>
        </p:spPr>
        <p:txBody>
          <a:bodyPr wrap="none" lIns="0" tIns="0" rIns="0" bIns="0" rtlCol="0" anchor="t"/>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Customers · 57.35% of sales</a:t>
            </a:r>
            <a:endParaRPr lang="en-US" sz="1450" dirty="0"/>
          </a:p>
        </p:txBody>
      </p:sp>
      <p:sp>
        <p:nvSpPr>
          <p:cNvPr id="12" name="Text 9"/>
          <p:cNvSpPr/>
          <p:nvPr/>
        </p:nvSpPr>
        <p:spPr>
          <a:xfrm>
            <a:off x="507987" y="4196060"/>
            <a:ext cx="11683708" cy="222250"/>
          </a:xfrm>
          <a:prstGeom prst="rect">
            <a:avLst/>
          </a:prstGeom>
          <a:noFill/>
          <a:ln/>
        </p:spPr>
        <p:txBody>
          <a:bodyPr wrap="none" lIns="0" tIns="0" rIns="0" bIns="0" rtlCol="0" anchor="t"/>
          <a:lstStyle/>
          <a:p>
            <a:pPr algn="l" indent="0" marL="0">
              <a:lnSpc>
                <a:spcPct val="117000"/>
              </a:lnSpc>
              <a:buNone/>
            </a:pPr>
            <a:r>
              <a:rPr lang="en-US" sz="1250" dirty="0">
                <a:solidFill>
                  <a:srgbClr val="334155"/>
                </a:solidFill>
                <a:latin typeface="Inter Medium" pitchFamily="34" charset="0"/>
                <a:ea typeface="Inter Medium" pitchFamily="34" charset="-122"/>
                <a:cs typeface="Inter Medium" pitchFamily="34" charset="-120"/>
              </a:rPr>
              <a:t>These are group totals. The comparison does not isolate incremental spend caused by a discount.</a:t>
            </a:r>
            <a:endParaRPr lang="en-US" sz="1250" dirty="0"/>
          </a:p>
        </p:txBody>
      </p:sp>
      <p:sp>
        <p:nvSpPr>
          <p:cNvPr id="13" name="Shape 10"/>
          <p:cNvSpPr/>
          <p:nvPr/>
        </p:nvSpPr>
        <p:spPr>
          <a:xfrm>
            <a:off x="507987" y="4583410"/>
            <a:ext cx="11175720" cy="1395611"/>
          </a:xfrm>
          <a:prstGeom prst="rect">
            <a:avLst/>
          </a:prstGeom>
          <a:solidFill>
            <a:srgbClr val="FFFFFF"/>
          </a:solidFill>
          <a:ln/>
        </p:spPr>
      </p:sp>
      <p:sp>
        <p:nvSpPr>
          <p:cNvPr id="14" name="Text 11"/>
          <p:cNvSpPr/>
          <p:nvPr/>
        </p:nvSpPr>
        <p:spPr>
          <a:xfrm>
            <a:off x="736582" y="4735810"/>
            <a:ext cx="1094712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15" name="Text 12"/>
          <p:cNvSpPr/>
          <p:nvPr/>
        </p:nvSpPr>
        <p:spPr>
          <a:xfrm>
            <a:off x="736582" y="5053310"/>
            <a:ext cx="10718532" cy="77331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Discounts are applied to about 43 percent of customers. The non-discounted group generates more total sales, but it is also larger. Before changing the offer, we should compare average basket and margin across comparable customers to measure incremental lift.</a:t>
            </a:r>
            <a:endParaRPr lang="en-US" sz="1450" dirty="0"/>
          </a:p>
        </p:txBody>
      </p:sp>
      <p:sp>
        <p:nvSpPr>
          <p:cNvPr id="16" name="Shape 13"/>
          <p:cNvSpPr/>
          <p:nvPr/>
        </p:nvSpPr>
        <p:spPr>
          <a:xfrm>
            <a:off x="7038898" y="2665115"/>
            <a:ext cx="4644810" cy="12700"/>
          </a:xfrm>
          <a:prstGeom prst="rect">
            <a:avLst/>
          </a:prstGeom>
          <a:solidFill>
            <a:srgbClr val="E2E8F0"/>
          </a:solidFill>
          <a:ln/>
        </p:spPr>
      </p:sp>
      <p:sp>
        <p:nvSpPr>
          <p:cNvPr id="17" name="Text 14"/>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18" name="Text 15"/>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7987" y="4064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CUSTOMER CHOICES · SHIPPING &amp; PAYMENT</a:t>
            </a:r>
            <a:endParaRPr lang="en-US" sz="1100" dirty="0"/>
          </a:p>
        </p:txBody>
      </p:sp>
      <p:sp>
        <p:nvSpPr>
          <p:cNvPr id="3" name="Text 1"/>
          <p:cNvSpPr/>
          <p:nvPr/>
        </p:nvSpPr>
        <p:spPr>
          <a:xfrm>
            <a:off x="507987" y="688975"/>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Shipping and payment choices are spread across options</a:t>
            </a:r>
            <a:endParaRPr lang="en-US" sz="3200" dirty="0"/>
          </a:p>
        </p:txBody>
      </p:sp>
      <p:pic>
        <p:nvPicPr>
          <p:cNvPr id="4" name="Image 0" descr="preencoded.png">    </p:cNvPr>
          <p:cNvPicPr>
            <a:picLocks noChangeAspect="1"/>
          </p:cNvPicPr>
          <p:nvPr/>
        </p:nvPicPr>
        <p:blipFill>
          <a:blip r:embed="rId1"/>
          <a:stretch>
            <a:fillRect/>
          </a:stretch>
        </p:blipFill>
        <p:spPr>
          <a:xfrm>
            <a:off x="507987" y="1311970"/>
            <a:ext cx="6431198" cy="2395934"/>
          </a:xfrm>
          <a:prstGeom prst="rect">
            <a:avLst/>
          </a:prstGeom>
        </p:spPr>
      </p:pic>
      <p:sp>
        <p:nvSpPr>
          <p:cNvPr id="5" name="Text 2"/>
          <p:cNvSpPr/>
          <p:nvPr/>
        </p:nvSpPr>
        <p:spPr>
          <a:xfrm>
            <a:off x="7396275" y="1311970"/>
            <a:ext cx="4287433"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PAYMENT COUNTS</a:t>
            </a:r>
            <a:endParaRPr lang="en-US" sz="1100" dirty="0"/>
          </a:p>
        </p:txBody>
      </p:sp>
      <p:sp>
        <p:nvSpPr>
          <p:cNvPr id="6" name="Text 3"/>
          <p:cNvSpPr/>
          <p:nvPr/>
        </p:nvSpPr>
        <p:spPr>
          <a:xfrm>
            <a:off x="7396275" y="1594545"/>
            <a:ext cx="4287433" cy="294878"/>
          </a:xfrm>
          <a:prstGeom prst="rect">
            <a:avLst/>
          </a:prstGeom>
          <a:noFill/>
          <a:ln/>
        </p:spPr>
        <p:txBody>
          <a:bodyPr wrap="none" lIns="0" tIns="0" rIns="0" bIns="0" rtlCol="0" anchor="t"/>
          <a:lstStyle/>
          <a:p>
            <a:pPr algn="l" indent="0" marL="0">
              <a:lnSpc>
                <a:spcPct val="90000"/>
              </a:lnSpc>
              <a:buNone/>
            </a:pPr>
            <a:r>
              <a:rPr lang="en-US" sz="2150" b="1" spc="-43" kern="0" dirty="0">
                <a:solidFill>
                  <a:srgbClr val="0A736A"/>
                </a:solidFill>
                <a:latin typeface="JetBrains Mono Bold" pitchFamily="34" charset="0"/>
                <a:ea typeface="JetBrains Mono Bold" pitchFamily="34" charset="-122"/>
                <a:cs typeface="JetBrains Mono Bold" pitchFamily="34" charset="-120"/>
              </a:rPr>
              <a:t>612–677 customers</a:t>
            </a:r>
            <a:endParaRPr lang="en-US" sz="2150" dirty="0"/>
          </a:p>
        </p:txBody>
      </p:sp>
      <p:sp>
        <p:nvSpPr>
          <p:cNvPr id="7" name="Text 4"/>
          <p:cNvSpPr/>
          <p:nvPr/>
        </p:nvSpPr>
        <p:spPr>
          <a:xfrm>
            <a:off x="7396275" y="2022773"/>
            <a:ext cx="4287433"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Bank transfers: 612 · Credit cards: 677. PayPal and cash are close behind.</a:t>
            </a:r>
            <a:endParaRPr lang="en-US" sz="1450" dirty="0"/>
          </a:p>
        </p:txBody>
      </p:sp>
      <p:sp>
        <p:nvSpPr>
          <p:cNvPr id="8" name="Text 5"/>
          <p:cNvSpPr/>
          <p:nvPr/>
        </p:nvSpPr>
        <p:spPr>
          <a:xfrm>
            <a:off x="7396275" y="2995513"/>
            <a:ext cx="4287433"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RATING</a:t>
            </a:r>
            <a:endParaRPr lang="en-US" sz="1100" dirty="0"/>
          </a:p>
        </p:txBody>
      </p:sp>
      <p:sp>
        <p:nvSpPr>
          <p:cNvPr id="9" name="Text 6"/>
          <p:cNvSpPr/>
          <p:nvPr/>
        </p:nvSpPr>
        <p:spPr>
          <a:xfrm>
            <a:off x="7396275" y="3278088"/>
            <a:ext cx="4287433" cy="294878"/>
          </a:xfrm>
          <a:prstGeom prst="rect">
            <a:avLst/>
          </a:prstGeom>
          <a:noFill/>
          <a:ln/>
        </p:spPr>
        <p:txBody>
          <a:bodyPr wrap="none" lIns="0" tIns="0" rIns="0" bIns="0" rtlCol="0" anchor="t"/>
          <a:lstStyle/>
          <a:p>
            <a:pPr algn="l" indent="0" marL="0">
              <a:lnSpc>
                <a:spcPct val="90000"/>
              </a:lnSpc>
              <a:buNone/>
            </a:pPr>
            <a:r>
              <a:rPr lang="en-US" sz="2150" b="1" spc="-43" kern="0" dirty="0">
                <a:solidFill>
                  <a:srgbClr val="0A736A"/>
                </a:solidFill>
                <a:latin typeface="JetBrains Mono Bold" pitchFamily="34" charset="0"/>
                <a:ea typeface="JetBrains Mono Bold" pitchFamily="34" charset="-122"/>
                <a:cs typeface="JetBrains Mono Bold" pitchFamily="34" charset="-120"/>
              </a:rPr>
              <a:t>3.75 overall</a:t>
            </a:r>
            <a:endParaRPr lang="en-US" sz="2150" dirty="0"/>
          </a:p>
        </p:txBody>
      </p:sp>
      <p:sp>
        <p:nvSpPr>
          <p:cNvPr id="10" name="Text 7"/>
          <p:cNvSpPr/>
          <p:nvPr/>
        </p:nvSpPr>
        <p:spPr>
          <a:xfrm>
            <a:off x="7396275" y="3706316"/>
            <a:ext cx="4287433"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A rating breakdown by shipping method is not visible in the report.</a:t>
            </a:r>
            <a:endParaRPr lang="en-US" sz="1450" dirty="0"/>
          </a:p>
        </p:txBody>
      </p:sp>
      <p:sp>
        <p:nvSpPr>
          <p:cNvPr id="11" name="Shape 8"/>
          <p:cNvSpPr/>
          <p:nvPr/>
        </p:nvSpPr>
        <p:spPr>
          <a:xfrm>
            <a:off x="507987" y="4386957"/>
            <a:ext cx="11175720" cy="1395611"/>
          </a:xfrm>
          <a:prstGeom prst="rect">
            <a:avLst/>
          </a:prstGeom>
          <a:solidFill>
            <a:srgbClr val="FFFFFF"/>
          </a:solidFill>
          <a:ln/>
        </p:spPr>
      </p:sp>
      <p:sp>
        <p:nvSpPr>
          <p:cNvPr id="12" name="Text 9"/>
          <p:cNvSpPr/>
          <p:nvPr/>
        </p:nvSpPr>
        <p:spPr>
          <a:xfrm>
            <a:off x="736582" y="4539357"/>
            <a:ext cx="1094712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13" name="Text 10"/>
          <p:cNvSpPr/>
          <p:nvPr/>
        </p:nvSpPr>
        <p:spPr>
          <a:xfrm>
            <a:off x="736582" y="4856857"/>
            <a:ext cx="10718532" cy="77331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No shipping option dominates sales, and payment preferences are distributed across the available methods. The dashboard reports an overall rating, but not enough detail here to connect ratings to shipping. I would avoid changing fulfillment based on this view alone.</a:t>
            </a:r>
            <a:endParaRPr lang="en-US" sz="1450" dirty="0"/>
          </a:p>
        </p:txBody>
      </p:sp>
      <p:sp>
        <p:nvSpPr>
          <p:cNvPr id="14" name="Shape 11"/>
          <p:cNvSpPr/>
          <p:nvPr/>
        </p:nvSpPr>
        <p:spPr>
          <a:xfrm>
            <a:off x="7396275" y="2760563"/>
            <a:ext cx="4287433" cy="12700"/>
          </a:xfrm>
          <a:prstGeom prst="rect">
            <a:avLst/>
          </a:prstGeom>
          <a:solidFill>
            <a:srgbClr val="E2E8F0"/>
          </a:solidFill>
          <a:ln/>
        </p:spPr>
      </p:sp>
      <p:sp>
        <p:nvSpPr>
          <p:cNvPr id="15" name="Text 12"/>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16" name="Text 13"/>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7987" y="381000"/>
            <a:ext cx="11683708"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NEXT · VALIDATE BEFORE REALLOCATING SPEND</a:t>
            </a:r>
            <a:endParaRPr lang="en-US" sz="1100" dirty="0"/>
          </a:p>
        </p:txBody>
      </p:sp>
      <p:sp>
        <p:nvSpPr>
          <p:cNvPr id="3" name="Text 1"/>
          <p:cNvSpPr/>
          <p:nvPr/>
        </p:nvSpPr>
        <p:spPr>
          <a:xfrm>
            <a:off x="507987" y="663575"/>
            <a:ext cx="11175720" cy="438845"/>
          </a:xfrm>
          <a:prstGeom prst="rect">
            <a:avLst/>
          </a:prstGeom>
          <a:noFill/>
          <a:ln/>
        </p:spPr>
        <p:txBody>
          <a:bodyPr wrap="none" lIns="0" tIns="0" rIns="0" bIns="0" rtlCol="0" anchor="t"/>
          <a:lstStyle/>
          <a:p>
            <a:pPr algn="l" indent="0" marL="0">
              <a:lnSpc>
                <a:spcPct val="90000"/>
              </a:lnSpc>
              <a:buNone/>
            </a:pPr>
            <a:r>
              <a:rPr lang="en-US" sz="3200" b="1" spc="-64" kern="0" dirty="0">
                <a:solidFill>
                  <a:srgbClr val="1E293B"/>
                </a:solidFill>
                <a:latin typeface="Source Sans 3 Bold" pitchFamily="34" charset="0"/>
                <a:ea typeface="Source Sans 3 Bold" pitchFamily="34" charset="-122"/>
                <a:cs typeface="Source Sans 3 Bold" pitchFamily="34" charset="-120"/>
              </a:rPr>
              <a:t>Use this baseline to test four decisions before reallocating spend</a:t>
            </a:r>
            <a:endParaRPr lang="en-US" sz="3200" dirty="0"/>
          </a:p>
        </p:txBody>
      </p:sp>
      <p:sp>
        <p:nvSpPr>
          <p:cNvPr id="4" name="Shape 2"/>
          <p:cNvSpPr/>
          <p:nvPr/>
        </p:nvSpPr>
        <p:spPr>
          <a:xfrm>
            <a:off x="507987" y="1286570"/>
            <a:ext cx="5435464" cy="1762919"/>
          </a:xfrm>
          <a:prstGeom prst="roundRect">
            <a:avLst>
              <a:gd name="adj" fmla="val 7780"/>
            </a:avLst>
          </a:prstGeom>
          <a:solidFill>
            <a:srgbClr val="EEEEE6"/>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5" name="Shape 3"/>
          <p:cNvSpPr/>
          <p:nvPr/>
        </p:nvSpPr>
        <p:spPr>
          <a:xfrm>
            <a:off x="717532" y="1445320"/>
            <a:ext cx="304792" cy="304800"/>
          </a:xfrm>
          <a:prstGeom prst="ellipse">
            <a:avLst/>
          </a:prstGeom>
          <a:solidFill>
            <a:srgbClr val="E4EEEC"/>
          </a:solidFill>
          <a:ln/>
        </p:spPr>
      </p:sp>
      <p:pic>
        <p:nvPicPr>
          <p:cNvPr id="6" name="Image 0" descr="preencoded.png">    </p:cNvPr>
          <p:cNvPicPr>
            <a:picLocks noChangeAspect="1"/>
          </p:cNvPicPr>
          <p:nvPr/>
        </p:nvPicPr>
        <p:blipFill>
          <a:blip r:embed="rId1"/>
          <a:stretch>
            <a:fillRect/>
          </a:stretch>
        </p:blipFill>
        <p:spPr>
          <a:xfrm>
            <a:off x="800080" y="1527870"/>
            <a:ext cx="139697" cy="139700"/>
          </a:xfrm>
          <a:prstGeom prst="rect">
            <a:avLst/>
          </a:prstGeom>
        </p:spPr>
      </p:pic>
      <p:sp>
        <p:nvSpPr>
          <p:cNvPr id="7" name="Text 4"/>
          <p:cNvSpPr/>
          <p:nvPr/>
        </p:nvSpPr>
        <p:spPr>
          <a:xfrm>
            <a:off x="717532" y="1946970"/>
            <a:ext cx="5016375"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Discount lift</a:t>
            </a:r>
            <a:endParaRPr lang="en-US" sz="2150" dirty="0"/>
          </a:p>
        </p:txBody>
      </p:sp>
      <p:sp>
        <p:nvSpPr>
          <p:cNvPr id="8" name="Text 5"/>
          <p:cNvSpPr/>
          <p:nvPr/>
        </p:nvSpPr>
        <p:spPr>
          <a:xfrm>
            <a:off x="717532" y="2375198"/>
            <a:ext cx="5016375"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Measure discount lift against comparable purchases and gross margin.</a:t>
            </a:r>
            <a:endParaRPr lang="en-US" sz="1450" dirty="0"/>
          </a:p>
        </p:txBody>
      </p:sp>
      <p:sp>
        <p:nvSpPr>
          <p:cNvPr id="9" name="Shape 6"/>
          <p:cNvSpPr/>
          <p:nvPr/>
        </p:nvSpPr>
        <p:spPr>
          <a:xfrm>
            <a:off x="6248244" y="1286570"/>
            <a:ext cx="5435464" cy="1762919"/>
          </a:xfrm>
          <a:prstGeom prst="roundRect">
            <a:avLst>
              <a:gd name="adj" fmla="val 7780"/>
            </a:avLst>
          </a:prstGeom>
          <a:solidFill>
            <a:srgbClr val="EEEEE6"/>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10" name="Shape 7"/>
          <p:cNvSpPr/>
          <p:nvPr/>
        </p:nvSpPr>
        <p:spPr>
          <a:xfrm>
            <a:off x="6457788" y="1445320"/>
            <a:ext cx="304792" cy="304800"/>
          </a:xfrm>
          <a:prstGeom prst="ellipse">
            <a:avLst/>
          </a:prstGeom>
          <a:solidFill>
            <a:srgbClr val="E4EEEC"/>
          </a:solidFill>
          <a:ln/>
        </p:spPr>
      </p:sp>
      <p:pic>
        <p:nvPicPr>
          <p:cNvPr id="11" name="Image 1" descr="preencoded.png">    </p:cNvPr>
          <p:cNvPicPr>
            <a:picLocks noChangeAspect="1"/>
          </p:cNvPicPr>
          <p:nvPr/>
        </p:nvPicPr>
        <p:blipFill>
          <a:blip r:embed="rId2"/>
          <a:stretch>
            <a:fillRect/>
          </a:stretch>
        </p:blipFill>
        <p:spPr>
          <a:xfrm>
            <a:off x="6540336" y="1527870"/>
            <a:ext cx="139697" cy="139700"/>
          </a:xfrm>
          <a:prstGeom prst="rect">
            <a:avLst/>
          </a:prstGeom>
        </p:spPr>
      </p:pic>
      <p:sp>
        <p:nvSpPr>
          <p:cNvPr id="12" name="Text 8"/>
          <p:cNvSpPr/>
          <p:nvPr/>
        </p:nvSpPr>
        <p:spPr>
          <a:xfrm>
            <a:off x="6457788" y="1946970"/>
            <a:ext cx="5016375"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Subscription</a:t>
            </a:r>
            <a:endParaRPr lang="en-US" sz="2150" dirty="0"/>
          </a:p>
        </p:txBody>
      </p:sp>
      <p:sp>
        <p:nvSpPr>
          <p:cNvPr id="13" name="Text 9"/>
          <p:cNvSpPr/>
          <p:nvPr/>
        </p:nvSpPr>
        <p:spPr>
          <a:xfrm>
            <a:off x="6457788" y="2375198"/>
            <a:ext cx="5016375"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Test whether subscription changes retention or purchase frequency, not just total sales.</a:t>
            </a:r>
            <a:endParaRPr lang="en-US" sz="1450" dirty="0"/>
          </a:p>
        </p:txBody>
      </p:sp>
      <p:sp>
        <p:nvSpPr>
          <p:cNvPr id="14" name="Shape 10"/>
          <p:cNvSpPr/>
          <p:nvPr/>
        </p:nvSpPr>
        <p:spPr>
          <a:xfrm>
            <a:off x="507987" y="3354288"/>
            <a:ext cx="5435464" cy="1762919"/>
          </a:xfrm>
          <a:prstGeom prst="roundRect">
            <a:avLst>
              <a:gd name="adj" fmla="val 7780"/>
            </a:avLst>
          </a:prstGeom>
          <a:solidFill>
            <a:srgbClr val="EEEEE6"/>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15" name="Shape 11"/>
          <p:cNvSpPr/>
          <p:nvPr/>
        </p:nvSpPr>
        <p:spPr>
          <a:xfrm>
            <a:off x="717532" y="3513038"/>
            <a:ext cx="304792" cy="304800"/>
          </a:xfrm>
          <a:prstGeom prst="ellipse">
            <a:avLst/>
          </a:prstGeom>
          <a:solidFill>
            <a:srgbClr val="EAEEFF"/>
          </a:solidFill>
          <a:ln/>
        </p:spPr>
      </p:sp>
      <p:pic>
        <p:nvPicPr>
          <p:cNvPr id="16" name="Image 2" descr="preencoded.png">    </p:cNvPr>
          <p:cNvPicPr>
            <a:picLocks noChangeAspect="1"/>
          </p:cNvPicPr>
          <p:nvPr/>
        </p:nvPicPr>
        <p:blipFill>
          <a:blip r:embed="rId3"/>
          <a:stretch>
            <a:fillRect/>
          </a:stretch>
        </p:blipFill>
        <p:spPr>
          <a:xfrm>
            <a:off x="800080" y="3595588"/>
            <a:ext cx="139697" cy="139700"/>
          </a:xfrm>
          <a:prstGeom prst="rect">
            <a:avLst/>
          </a:prstGeom>
        </p:spPr>
      </p:pic>
      <p:sp>
        <p:nvSpPr>
          <p:cNvPr id="17" name="Text 12"/>
          <p:cNvSpPr/>
          <p:nvPr/>
        </p:nvSpPr>
        <p:spPr>
          <a:xfrm>
            <a:off x="717532" y="4014688"/>
            <a:ext cx="5016375"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Product performance</a:t>
            </a:r>
            <a:endParaRPr lang="en-US" sz="2150" dirty="0"/>
          </a:p>
        </p:txBody>
      </p:sp>
      <p:sp>
        <p:nvSpPr>
          <p:cNvPr id="18" name="Text 13"/>
          <p:cNvSpPr/>
          <p:nvPr/>
        </p:nvSpPr>
        <p:spPr>
          <a:xfrm>
            <a:off x="717532" y="4442916"/>
            <a:ext cx="5016375"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Join product sales to ratings and margin to identify high-volume, low-satisfaction items.</a:t>
            </a:r>
            <a:endParaRPr lang="en-US" sz="1450" dirty="0"/>
          </a:p>
        </p:txBody>
      </p:sp>
      <p:sp>
        <p:nvSpPr>
          <p:cNvPr id="19" name="Shape 14"/>
          <p:cNvSpPr/>
          <p:nvPr/>
        </p:nvSpPr>
        <p:spPr>
          <a:xfrm>
            <a:off x="6248244" y="3354288"/>
            <a:ext cx="5435464" cy="1762919"/>
          </a:xfrm>
          <a:prstGeom prst="roundRect">
            <a:avLst>
              <a:gd name="adj" fmla="val 7780"/>
            </a:avLst>
          </a:prstGeom>
          <a:solidFill>
            <a:srgbClr val="EEEEE6"/>
          </a:solidFill>
          <a:ln w="6350">
            <a:solidFill>
              <a:srgbClr val="E2E8F0"/>
            </a:solidFill>
            <a:prstDash val="solid"/>
          </a:ln>
          <a:effectLst>
            <a:outerShdw sx="100000" sy="100000" kx="0" ky="0" algn="bl" rotWithShape="0" blurRad="27940" dist="8890" dir="5400000">
              <a:srgbClr val="1e293b">
                <a:alpha val="1000"/>
              </a:srgbClr>
            </a:outerShdw>
          </a:effectLst>
        </p:spPr>
      </p:sp>
      <p:sp>
        <p:nvSpPr>
          <p:cNvPr id="20" name="Shape 15"/>
          <p:cNvSpPr/>
          <p:nvPr/>
        </p:nvSpPr>
        <p:spPr>
          <a:xfrm>
            <a:off x="6457788" y="3513038"/>
            <a:ext cx="304792" cy="304800"/>
          </a:xfrm>
          <a:prstGeom prst="ellipse">
            <a:avLst/>
          </a:prstGeom>
          <a:solidFill>
            <a:srgbClr val="E4EEEC"/>
          </a:solidFill>
          <a:ln/>
        </p:spPr>
      </p:sp>
      <p:pic>
        <p:nvPicPr>
          <p:cNvPr id="21" name="Image 3" descr="preencoded.png">    </p:cNvPr>
          <p:cNvPicPr>
            <a:picLocks noChangeAspect="1"/>
          </p:cNvPicPr>
          <p:nvPr/>
        </p:nvPicPr>
        <p:blipFill>
          <a:blip r:embed="rId4"/>
          <a:stretch>
            <a:fillRect/>
          </a:stretch>
        </p:blipFill>
        <p:spPr>
          <a:xfrm>
            <a:off x="6540336" y="3595588"/>
            <a:ext cx="139697" cy="139700"/>
          </a:xfrm>
          <a:prstGeom prst="rect">
            <a:avLst/>
          </a:prstGeom>
        </p:spPr>
      </p:pic>
      <p:sp>
        <p:nvSpPr>
          <p:cNvPr id="22" name="Text 16"/>
          <p:cNvSpPr/>
          <p:nvPr/>
        </p:nvSpPr>
        <p:spPr>
          <a:xfrm>
            <a:off x="6457788" y="4014688"/>
            <a:ext cx="5016375" cy="294878"/>
          </a:xfrm>
          <a:prstGeom prst="rect">
            <a:avLst/>
          </a:prstGeom>
          <a:noFill/>
          <a:ln/>
        </p:spPr>
        <p:txBody>
          <a:bodyPr wrap="none" lIns="0" tIns="0" rIns="0" bIns="0" rtlCol="0" anchor="t"/>
          <a:lstStyle/>
          <a:p>
            <a:pPr algn="l" indent="0" marL="0">
              <a:lnSpc>
                <a:spcPct val="90000"/>
              </a:lnSpc>
              <a:buNone/>
            </a:pPr>
            <a:r>
              <a:rPr lang="en-US" sz="2150" spc="-43" kern="0" dirty="0">
                <a:solidFill>
                  <a:srgbClr val="1E293B"/>
                </a:solidFill>
                <a:latin typeface="Source Sans 3 SemiBold" pitchFamily="34" charset="0"/>
                <a:ea typeface="Source Sans 3 SemiBold" pitchFamily="34" charset="-122"/>
                <a:cs typeface="Source Sans 3 SemiBold" pitchFamily="34" charset="-120"/>
              </a:rPr>
              <a:t>State and season</a:t>
            </a:r>
            <a:endParaRPr lang="en-US" sz="2150" dirty="0"/>
          </a:p>
        </p:txBody>
      </p:sp>
      <p:sp>
        <p:nvSpPr>
          <p:cNvPr id="23" name="Text 17"/>
          <p:cNvSpPr/>
          <p:nvPr/>
        </p:nvSpPr>
        <p:spPr>
          <a:xfrm>
            <a:off x="6457788" y="4442916"/>
            <a:ext cx="5016375"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Export readable state and season breakdowns before making geographic or seasonal allocation decisions.</a:t>
            </a:r>
            <a:endParaRPr lang="en-US" sz="1450" dirty="0"/>
          </a:p>
        </p:txBody>
      </p:sp>
      <p:sp>
        <p:nvSpPr>
          <p:cNvPr id="24" name="Shape 18"/>
          <p:cNvSpPr/>
          <p:nvPr/>
        </p:nvSpPr>
        <p:spPr>
          <a:xfrm>
            <a:off x="507987" y="5282307"/>
            <a:ext cx="11175720" cy="1192411"/>
          </a:xfrm>
          <a:prstGeom prst="rect">
            <a:avLst/>
          </a:prstGeom>
          <a:solidFill>
            <a:srgbClr val="FFFFFF"/>
          </a:solidFill>
          <a:ln/>
        </p:spPr>
      </p:sp>
      <p:sp>
        <p:nvSpPr>
          <p:cNvPr id="25" name="Text 19"/>
          <p:cNvSpPr/>
          <p:nvPr/>
        </p:nvSpPr>
        <p:spPr>
          <a:xfrm>
            <a:off x="736582" y="5333107"/>
            <a:ext cx="10947126" cy="209550"/>
          </a:xfrm>
          <a:prstGeom prst="rect">
            <a:avLst/>
          </a:prstGeom>
          <a:noFill/>
          <a:ln/>
        </p:spPr>
        <p:txBody>
          <a:bodyPr wrap="none" lIns="0" tIns="0" rIns="0" bIns="0" rtlCol="0" anchor="t"/>
          <a:lstStyle/>
          <a:p>
            <a:pPr algn="l" indent="0" marL="0">
              <a:lnSpc>
                <a:spcPct val="125000"/>
              </a:lnSpc>
              <a:buNone/>
            </a:pPr>
            <a:r>
              <a:rPr lang="en-US" sz="1100" b="1" spc="110" kern="0" dirty="0">
                <a:solidFill>
                  <a:srgbClr val="334155"/>
                </a:solidFill>
                <a:latin typeface="JetBrains Mono Bold" pitchFamily="34" charset="0"/>
                <a:ea typeface="JetBrains Mono Bold" pitchFamily="34" charset="-122"/>
                <a:cs typeface="JetBrains Mono Bold" pitchFamily="34" charset="-120"/>
              </a:rPr>
              <a:t>PRESENTER TALK TRACK</a:t>
            </a:r>
            <a:endParaRPr lang="en-US" sz="1100" dirty="0"/>
          </a:p>
        </p:txBody>
      </p:sp>
      <p:sp>
        <p:nvSpPr>
          <p:cNvPr id="26" name="Text 20"/>
          <p:cNvSpPr/>
          <p:nvPr/>
        </p:nvSpPr>
        <p:spPr>
          <a:xfrm>
            <a:off x="736582" y="5650607"/>
            <a:ext cx="10718532" cy="77331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334155"/>
                </a:solidFill>
                <a:latin typeface="Inter Medium" pitchFamily="34" charset="0"/>
                <a:ea typeface="Inter Medium" pitchFamily="34" charset="-122"/>
                <a:cs typeface="Inter Medium" pitchFamily="34" charset="-120"/>
              </a:rPr>
              <a:t>The dashboard gives us a clear picture of today’s mix. My recommendation is to validate the levers before shifting investment: measure discount incrementality, test subscription against frequency and retention, connect sales with ratings and margin, and confirm the state-level picture in a detailed export.</a:t>
            </a:r>
            <a:endParaRPr lang="en-US" sz="1450" dirty="0"/>
          </a:p>
        </p:txBody>
      </p:sp>
      <p:sp>
        <p:nvSpPr>
          <p:cNvPr id="27" name="Text 21"/>
          <p:cNvSpPr/>
          <p:nvPr/>
        </p:nvSpPr>
        <p:spPr>
          <a:xfrm>
            <a:off x="457189" y="6549430"/>
            <a:ext cx="2808713"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64748B"/>
                </a:solidFill>
                <a:latin typeface="JetBrains Mono Medium" pitchFamily="34" charset="0"/>
                <a:ea typeface="JetBrains Mono Medium" pitchFamily="34" charset="-122"/>
                <a:cs typeface="JetBrains Mono Medium" pitchFamily="34" charset="-120"/>
              </a:rPr>
              <a:t>CUSTOMER SHOPPING BEHAVIOR</a:t>
            </a:r>
            <a:endParaRPr lang="en-US" sz="900" dirty="0"/>
          </a:p>
        </p:txBody>
      </p:sp>
      <p:sp>
        <p:nvSpPr>
          <p:cNvPr id="28" name="Text 22"/>
          <p:cNvSpPr/>
          <p:nvPr/>
        </p:nvSpPr>
        <p:spPr>
          <a:xfrm>
            <a:off x="11565343" y="6549430"/>
            <a:ext cx="626352" cy="159941"/>
          </a:xfrm>
          <a:prstGeom prst="rect">
            <a:avLst/>
          </a:prstGeom>
          <a:noFill/>
          <a:ln/>
        </p:spPr>
        <p:txBody>
          <a:bodyPr wrap="none" lIns="0" tIns="0" rIns="0" bIns="0" rtlCol="0" anchor="ctr"/>
          <a:lstStyle/>
          <a:p>
            <a:pPr algn="l" indent="0" marL="0">
              <a:lnSpc>
                <a:spcPct val="117000"/>
              </a:lnSpc>
              <a:buNone/>
            </a:pPr>
            <a:r>
              <a:rPr lang="en-US" sz="900" spc="126" kern="0" dirty="0">
                <a:solidFill>
                  <a:srgbClr val="0A736A"/>
                </a:solidFill>
                <a:latin typeface="JetBrains Mono Medium" pitchFamily="34" charset="0"/>
                <a:ea typeface="JetBrains Mono Medium" pitchFamily="34" charset="-122"/>
                <a:cs typeface="JetBrains Mono Medium" pitchFamily="34" charset="-120"/>
              </a:rPr>
              <a:t>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2026-09-23T15:42:35Z</dcterms:created>
  <dcterms:modified xsi:type="dcterms:W3CDTF">2026-09-23T15:42:35Z</dcterms:modified>
</cp:coreProperties>
</file>